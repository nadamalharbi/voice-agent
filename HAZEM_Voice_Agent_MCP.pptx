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4"/>
  </p:notesMasterIdLst>
  <p:handoutMasterIdLst>
    <p:handoutMasterId r:id="rId15"/>
  </p:handoutMasterIdLst>
  <p:sldIdLst>
    <p:sldId id="2147475244" r:id="rId6"/>
    <p:sldId id="2147475254" r:id="rId7"/>
    <p:sldId id="2147475250" r:id="rId8"/>
    <p:sldId id="2147475253" r:id="rId9"/>
    <p:sldId id="2147475255" r:id="rId21"/>
    <p:sldId id="2147475249" r:id="rId10"/>
    <p:sldId id="2147475246" r:id="rId11"/>
    <p:sldId id="2147475258" r:id="rId24"/>
    <p:sldId id="2147475259" r:id="rId25"/>
    <p:sldId id="2147475256" r:id="rId22"/>
    <p:sldId id="2147475257" r:id="rId23"/>
    <p:sldId id="2147475252" r:id="rId12"/>
    <p:sldId id="2147475206" r:id="rId13"/>
  </p:sldIdLst>
  <p:sldSz cx="12192000" cy="6858000"/>
  <p:notesSz cx="6858000" cy="9144000"/>
  <p:custDataLst>
    <p:tags r:id="rId16"/>
  </p:custDataLst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C400"/>
    <a:srgbClr val="71BD43"/>
    <a:srgbClr val="47585F"/>
    <a:srgbClr val="B5560B"/>
    <a:srgbClr val="44505E"/>
    <a:srgbClr val="C7C7C7"/>
    <a:srgbClr val="2D4B59"/>
    <a:srgbClr val="E07B2A"/>
    <a:srgbClr val="20373E"/>
    <a:srgbClr val="1E3A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34" autoAdjust="0"/>
    <p:restoredTop sz="96271" autoAdjust="0"/>
  </p:normalViewPr>
  <p:slideViewPr>
    <p:cSldViewPr snapToGrid="0">
      <p:cViewPr varScale="1">
        <p:scale>
          <a:sx n="87" d="100"/>
          <a:sy n="87" d="100"/>
        </p:scale>
        <p:origin x="114" y="1512"/>
      </p:cViewPr>
      <p:guideLst/>
    </p:cSldViewPr>
  </p:slideViewPr>
  <p:notesTextViewPr>
    <p:cViewPr>
      <p:scale>
        <a:sx n="165" d="100"/>
        <a:sy n="165" d="100"/>
      </p:scale>
      <p:origin x="0" y="0"/>
    </p:cViewPr>
  </p:notesTextViewPr>
  <p:notesViewPr>
    <p:cSldViewPr snapToGrid="0" showGuides="1">
      <p:cViewPr varScale="1">
        <p:scale>
          <a:sx n="91" d="100"/>
          <a:sy n="91" d="100"/>
        </p:scale>
        <p:origin x="4032" y="192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  <Relationship Id="rId21" Type="http://schemas.openxmlformats.org/officeDocument/2006/relationships/slide" Target="slides/slide9.xml"/>
  <Relationship Id="rId22" Type="http://schemas.openxmlformats.org/officeDocument/2006/relationships/slide" Target="slides/slide10.xml"/>
  <Relationship Id="rId23" Type="http://schemas.openxmlformats.org/officeDocument/2006/relationships/slide" Target="slides/slide11.xml"/>
  <Relationship Id="rId24" Type="http://schemas.openxmlformats.org/officeDocument/2006/relationships/slide" Target="slides/slide12.xml"/>
  <Relationship Id="rId25" Type="http://schemas.openxmlformats.org/officeDocument/2006/relationships/slide" Target="slides/slide13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C866-1A62-259B-D3CF-83B18D5D27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85C77-3535-114F-DEC5-B6BF15268E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FFA62-33DF-564D-9A3C-C9B6591F01BD}" type="datetimeFigureOut">
              <a:rPr lang="en-SA" smtClean="0">
                <a:latin typeface="Tahoma" panose="020B0604030504040204" pitchFamily="34" charset="0"/>
              </a:rPr>
              <a:t>10/22/2026</a:t>
            </a:fld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3E0F2-DD27-C10D-5CBF-06737B43EE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A" dirty="0">
              <a:latin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F15A4-236E-7494-FF93-BB33718B7DB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8B8006-90BE-A941-B847-C53146344F02}" type="slidenum">
              <a:rPr lang="en-SA" smtClean="0">
                <a:latin typeface="Tahoma" panose="020B0604030504040204" pitchFamily="34" charset="0"/>
              </a:rPr>
              <a:t>‹#›</a:t>
            </a:fld>
            <a:endParaRPr lang="en-SA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12103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B9037874-7929-824F-8FDF-0A1F0F0B765D}" type="datetimeFigureOut">
              <a:rPr lang="en-SA" smtClean="0"/>
              <a:pPr/>
              <a:t>10/22/2026</a:t>
            </a:fld>
            <a:endParaRPr lang="en-S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ahoma" panose="020B0604030504040204" pitchFamily="34" charset="0"/>
              </a:defRPr>
            </a:lvl1pPr>
          </a:lstStyle>
          <a:p>
            <a:fld id="{0AFA5BDE-6DB7-2443-9A4F-F1969E8FB82E}" type="slidenum">
              <a:rPr lang="en-SA" smtClean="0"/>
              <a:pPr/>
              <a:t>‹#›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05044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1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61124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2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4145725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6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961239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A5BDE-6DB7-2443-9A4F-F1969E8FB82E}" type="slidenum">
              <a:rPr lang="en-SA" smtClean="0"/>
              <a:pPr/>
              <a:t>7</a:t>
            </a:fld>
            <a:endParaRPr lang="en-SA" dirty="0"/>
          </a:p>
        </p:txBody>
      </p:sp>
    </p:spTree>
    <p:extLst>
      <p:ext uri="{BB962C8B-B14F-4D97-AF65-F5344CB8AC3E}">
        <p14:creationId xmlns:p14="http://schemas.microsoft.com/office/powerpoint/2010/main" val="206365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496CB5-72B5-B24E-F3CF-78AB75D348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3024"/>
            <a:ext cx="12192000" cy="70040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A4060B-1ECC-827A-1C3E-D0A41325056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3363311"/>
            <a:ext cx="5728139" cy="2333296"/>
          </a:xfrm>
        </p:spPr>
        <p:txBody>
          <a:bodyPr anchor="t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S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8020C-55C9-8D8B-7E81-B75BC5432A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2824271"/>
            <a:ext cx="5580993" cy="31832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AC5AA-E764-CB39-9773-B7134D3F8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CA4500-BAD0-2F44-9837-C77A8D3F6F1F}" type="datetime1">
              <a:rPr lang="en-US" smtClean="0"/>
              <a:t>10/22/2026</a:t>
            </a:fld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826735D-E91A-4F19-88A3-B854AF3B10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5" name="hlSlideMaster.Title SlideHeader" descr=" Restricted - Internal">
            <a:extLst>
              <a:ext uri="{FF2B5EF4-FFF2-40B4-BE49-F238E27FC236}">
                <a16:creationId xmlns:a16="http://schemas.microsoft.com/office/drawing/2014/main" id="{CCEFF911-10B3-4504-A9F0-B3BFFA7CECE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998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E5E937A-347A-D482-1922-AC5884C167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3363311"/>
            <a:ext cx="5728139" cy="2333296"/>
          </a:xfrm>
        </p:spPr>
        <p:txBody>
          <a:bodyPr anchor="t"/>
          <a:lstStyle>
            <a:lvl1pPr algn="l"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Here</a:t>
            </a:r>
            <a:endParaRPr lang="en-SA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EF65B3D-B06C-CD2C-8F60-96615E0986F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2824271"/>
            <a:ext cx="5580993" cy="31832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914BE4-83BF-DD44-98C1-5607C001AC75}" type="datetime1">
              <a:rPr lang="en-US" smtClean="0"/>
              <a:t>10/22/2026</a:t>
            </a:fld>
            <a:endParaRPr lang="en-S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E33A828-E3D2-4523-A50C-F6E1AD37D8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2" name="hlSlideMaster.Title Slide - 2Header" descr=" Restricted - Internal">
            <a:extLst>
              <a:ext uri="{FF2B5EF4-FFF2-40B4-BE49-F238E27FC236}">
                <a16:creationId xmlns:a16="http://schemas.microsoft.com/office/drawing/2014/main" id="{0322D51A-801A-4581-840A-4724531C298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7955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2862471"/>
            <a:ext cx="7488850" cy="1245704"/>
          </a:xfrm>
        </p:spPr>
        <p:txBody>
          <a:bodyPr anchor="t">
            <a:noAutofit/>
          </a:bodyPr>
          <a:lstStyle>
            <a:lvl1pPr algn="l">
              <a:defRPr sz="9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</a:t>
            </a:r>
            <a:endParaRPr lang="en-SA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EF65B3D-B06C-CD2C-8F60-96615E098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455" y="4414533"/>
            <a:ext cx="4533615" cy="687554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BB41A4-9C0B-154E-88C6-8F8894522B1E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1C770-181C-57BD-0C40-E0B20FB25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7980" y="0"/>
            <a:ext cx="667402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737D504-837D-4859-8DE8-00159B1992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54" y="382393"/>
            <a:ext cx="1861646" cy="634897"/>
          </a:xfrm>
          <a:prstGeom prst="rect">
            <a:avLst/>
          </a:prstGeom>
        </p:spPr>
      </p:pic>
      <p:sp>
        <p:nvSpPr>
          <p:cNvPr id="2" name="hlSlideMaster.Title Slide - 3Header" descr=" Restricted - Internal">
            <a:extLst>
              <a:ext uri="{FF2B5EF4-FFF2-40B4-BE49-F238E27FC236}">
                <a16:creationId xmlns:a16="http://schemas.microsoft.com/office/drawing/2014/main" id="{B9FD0E31-E619-48B1-A015-41F8E3AC173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81999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9E9C15F-D72B-DF47-B93A-99D031ED7A4E}" type="datetime1">
              <a:rPr lang="en-US" smtClean="0"/>
              <a:t>10/22/2026</a:t>
            </a:fld>
            <a:endParaRPr lang="en-S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2B094-2012-C491-2E7F-C30DE5A88C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7768" y="0"/>
            <a:ext cx="6674020" cy="6858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BBB2E-AAF5-1DD6-3951-0725C4C73C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ABCD13-4B14-4349-B132-08824E1516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2" name="hlSlideMaster.Divider - 1Header" descr=" Restricted - Internal">
            <a:extLst>
              <a:ext uri="{FF2B5EF4-FFF2-40B4-BE49-F238E27FC236}">
                <a16:creationId xmlns:a16="http://schemas.microsoft.com/office/drawing/2014/main" id="{A5E0934D-24A0-4EDA-81E3-8574B1F1761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35823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DE88C-93A7-E248-B87E-2E850B4410BB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81D58-5F6B-3953-723C-2A7BCA31D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688" t="9955" b="1005"/>
          <a:stretch/>
        </p:blipFill>
        <p:spPr>
          <a:xfrm>
            <a:off x="3733800" y="-1"/>
            <a:ext cx="6745553" cy="6858001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DED141D-A806-E3BC-8B06-C5778A5F299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3A2EA7B-678E-4439-931C-B2576C9FAC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Divider - 2Header" descr=" Restricted - Internal">
            <a:extLst>
              <a:ext uri="{FF2B5EF4-FFF2-40B4-BE49-F238E27FC236}">
                <a16:creationId xmlns:a16="http://schemas.microsoft.com/office/drawing/2014/main" id="{8EA4E285-E23E-4C39-9A6F-8639F85A925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9919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9577" y="2363186"/>
            <a:ext cx="5728139" cy="2837464"/>
          </a:xfrm>
        </p:spPr>
        <p:txBody>
          <a:bodyPr anchor="t">
            <a:noAutofit/>
          </a:bodyPr>
          <a:lstStyle>
            <a:lvl1pPr algn="l">
              <a:defRPr sz="6200" b="0" i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Divider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8732C2-31EA-B343-8043-ABBEAAB03118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81D58-5F6B-3953-723C-2A7BCA31D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9688" t="9955" b="1005"/>
          <a:stretch/>
        </p:blipFill>
        <p:spPr>
          <a:xfrm>
            <a:off x="3733800" y="0"/>
            <a:ext cx="6745553" cy="685800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6F5303DA-C8C0-FA4D-6B32-35118594D82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11795" y="4491131"/>
            <a:ext cx="2662238" cy="2339975"/>
          </a:xfrm>
        </p:spPr>
        <p:txBody>
          <a:bodyPr anchor="b">
            <a:noAutofit/>
          </a:bodyPr>
          <a:lstStyle>
            <a:lvl1pPr algn="r" rtl="1">
              <a:buNone/>
              <a:defRPr sz="154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None/>
              <a:defRPr>
                <a:solidFill>
                  <a:schemeClr val="accent1"/>
                </a:solidFill>
              </a:defRPr>
            </a:lvl2pPr>
            <a:lvl3pPr>
              <a:buNone/>
              <a:defRPr>
                <a:solidFill>
                  <a:schemeClr val="accent1"/>
                </a:solidFill>
              </a:defRPr>
            </a:lvl3pPr>
            <a:lvl4pPr>
              <a:buNone/>
              <a:defRPr>
                <a:solidFill>
                  <a:schemeClr val="accent1"/>
                </a:solidFill>
              </a:defRPr>
            </a:lvl4pPr>
            <a:lvl5pPr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SA" dirty="0"/>
              <a:t>04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1C61B30-8D48-4B90-B7C0-04ED717A53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Divider - 3Header" descr=" Restricted - Internal">
            <a:extLst>
              <a:ext uri="{FF2B5EF4-FFF2-40B4-BE49-F238E27FC236}">
                <a16:creationId xmlns:a16="http://schemas.microsoft.com/office/drawing/2014/main" id="{815EB3BF-61AD-4FBE-ABA2-9DC8FFB4956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42646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51031-D1B2-A1B7-49FE-09D2794EB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Index</a:t>
            </a:r>
            <a:endParaRPr lang="en-SA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2FA5C8-30B8-F052-22EF-982F0DB526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7839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32A3200E-DC76-9B55-EA01-EC6CD892B6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72279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F1477B0-F7EF-9BBE-F913-474355F1DFC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66720" y="2770188"/>
            <a:ext cx="3630336" cy="24241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949DC69-DC79-A885-0823-505811741C9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0850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06CA63ED-AA47-B835-5482-29E727FB46F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23792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26B8CFF2-CA5C-2429-B6E6-B2687A2ED6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968208" y="2106613"/>
            <a:ext cx="3736975" cy="490537"/>
          </a:xfrm>
        </p:spPr>
        <p:txBody>
          <a:bodyPr>
            <a:normAutofit/>
          </a:bodyPr>
          <a:lstStyle>
            <a:lvl1pPr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Subtitle One</a:t>
            </a:r>
            <a:endParaRPr lang="en-S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87BB1A-043F-2161-04F7-0884E78C32D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EDB6C-3122-DC8C-C40B-F475C5E1917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309EDCB-EBBF-A3FE-B507-F3360E68599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8F20FA8-B322-4089-8BED-D63EC8655F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4" name="hlSlideMaster.Table of ContentHeader" descr=" Restricted - Internal">
            <a:extLst>
              <a:ext uri="{FF2B5EF4-FFF2-40B4-BE49-F238E27FC236}">
                <a16:creationId xmlns:a16="http://schemas.microsoft.com/office/drawing/2014/main" id="{08AA73D8-A0EB-4FC9-A8F8-563C2EE379B4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71642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52BA1C55-F7D4-A19E-CBD3-7B4521C2B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48818EC-85A6-4370-B138-16EC9A024E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7" name="hlSlideMaster.Content - BlankHeader" descr=" Restricted - Internal">
            <a:extLst>
              <a:ext uri="{FF2B5EF4-FFF2-40B4-BE49-F238E27FC236}">
                <a16:creationId xmlns:a16="http://schemas.microsoft.com/office/drawing/2014/main" id="{75F6D79B-A8D6-45ED-BF1B-40330F7CF8C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3359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9C4B7A40-3EEC-1D7C-60F3-55EE0C8FF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B7327CF-9415-43B5-A6FF-06C943E2B1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7" name="hlSlideMaster.Content - Blank - PetroleumHeader" descr=" Restricted - Internal">
            <a:extLst>
              <a:ext uri="{FF2B5EF4-FFF2-40B4-BE49-F238E27FC236}">
                <a16:creationId xmlns:a16="http://schemas.microsoft.com/office/drawing/2014/main" id="{D6EB4F7E-3EDA-4CC4-8D5B-8B19665ECD1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2607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Blank - Deep 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4421-2241-F34C-885D-9438DDE89506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pic>
        <p:nvPicPr>
          <p:cNvPr id="11" name="Picture 10" descr="A blue and green rectangles&#10;&#10;AI-generated content may be incorrect.">
            <a:extLst>
              <a:ext uri="{FF2B5EF4-FFF2-40B4-BE49-F238E27FC236}">
                <a16:creationId xmlns:a16="http://schemas.microsoft.com/office/drawing/2014/main" id="{F5201CF6-8463-E036-4C92-2859C10C4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46"/>
          <a:stretch>
            <a:fillRect/>
          </a:stretch>
        </p:blipFill>
        <p:spPr>
          <a:xfrm>
            <a:off x="0" y="41275"/>
            <a:ext cx="472088" cy="129857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3DC758A-45E1-48E0-A191-3BD99EF9E1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5" name="hlSlideMaster.Content - Blank - Deep TealHeader" descr=" Restricted - Internal">
            <a:extLst>
              <a:ext uri="{FF2B5EF4-FFF2-40B4-BE49-F238E27FC236}">
                <a16:creationId xmlns:a16="http://schemas.microsoft.com/office/drawing/2014/main" id="{B9A4DD08-5799-4A14-9055-8871E430C75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8517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BABA6CD-E948-46BC-A46B-C61CB8F7E7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3" name="hlSlideMaster.BlankHeader" descr=" Restricted - Internal">
            <a:extLst>
              <a:ext uri="{FF2B5EF4-FFF2-40B4-BE49-F238E27FC236}">
                <a16:creationId xmlns:a16="http://schemas.microsoft.com/office/drawing/2014/main" id="{6995F58E-D200-4A9F-819F-0715E0D62D16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38356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6EDDF0F-A05A-FAE7-85F6-63BF74FEEB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CFCAC-9F15-50A2-2470-063247C7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84A23-95B0-1647-BF74-2C91441B455D}" type="datetime1">
              <a:rPr lang="en-US" smtClean="0"/>
              <a:t>10/22/2026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CCD97-7756-BDD4-737E-A02D0E73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645A3-AA51-B30B-CFE6-7518CD80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66" y="1660635"/>
            <a:ext cx="5596530" cy="4408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688" y="1660635"/>
            <a:ext cx="5592762" cy="442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8" name="Content Placeholder 22">
            <a:extLst>
              <a:ext uri="{FF2B5EF4-FFF2-40B4-BE49-F238E27FC236}">
                <a16:creationId xmlns:a16="http://schemas.microsoft.com/office/drawing/2014/main" id="{FA0CEC03-EFBF-BD00-ECB2-F2A2E1AD128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" name="hlSlideMaster.Content - 2 ListsHeader" descr=" Restricted - Internal">
            <a:extLst>
              <a:ext uri="{FF2B5EF4-FFF2-40B4-BE49-F238E27FC236}">
                <a16:creationId xmlns:a16="http://schemas.microsoft.com/office/drawing/2014/main" id="{4D33BA36-C07C-4BF3-A5F4-5586B49C929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733598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B48E3B2-FD93-FBB6-E79A-27A01573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/>
          <a:p>
            <a:fld id="{DC6776B4-1ADE-A44C-B52D-696DA967B307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BFAA35-863E-75AA-CA32-11254027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7BAC248-BA00-F1F6-3CE3-23D5FA1F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65CF887-C45F-D27D-23CD-3B51CCB6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17" name="Content Placeholder 15">
            <a:extLst>
              <a:ext uri="{FF2B5EF4-FFF2-40B4-BE49-F238E27FC236}">
                <a16:creationId xmlns:a16="http://schemas.microsoft.com/office/drawing/2014/main" id="{882A877D-A049-93EB-CF8F-D6AEC444BB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35688" y="1660635"/>
            <a:ext cx="5592762" cy="4426296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9" name="Content Placeholder 22">
            <a:extLst>
              <a:ext uri="{FF2B5EF4-FFF2-40B4-BE49-F238E27FC236}">
                <a16:creationId xmlns:a16="http://schemas.microsoft.com/office/drawing/2014/main" id="{69C07227-9EBE-1F4D-A23B-B7694717747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0" name="Content Placeholder 22">
            <a:extLst>
              <a:ext uri="{FF2B5EF4-FFF2-40B4-BE49-F238E27FC236}">
                <a16:creationId xmlns:a16="http://schemas.microsoft.com/office/drawing/2014/main" id="{85CEBFA4-FAC0-F714-06E6-580882520B3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65464" y="1628800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21" name="Content Placeholder 15">
            <a:extLst>
              <a:ext uri="{FF2B5EF4-FFF2-40B4-BE49-F238E27FC236}">
                <a16:creationId xmlns:a16="http://schemas.microsoft.com/office/drawing/2014/main" id="{8673144C-EB1F-BDE3-5D7C-547C5172413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9376" y="2002419"/>
            <a:ext cx="5592762" cy="4084511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buFont typeface="Arial" panose="020B0604020202020204" pitchFamily="34" charset="0"/>
              <a:buChar char="•"/>
              <a:defRPr b="0" i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9" name="Picture 8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EB9B181E-9D40-BB98-F66B-079AD4F2BC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B54FA4D-97FE-419E-A0CC-94AB45DB70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2 Body TextHeader" descr=" Restricted - Internal">
            <a:extLst>
              <a:ext uri="{FF2B5EF4-FFF2-40B4-BE49-F238E27FC236}">
                <a16:creationId xmlns:a16="http://schemas.microsoft.com/office/drawing/2014/main" id="{D3C41ADF-0F2B-4DD0-8F8C-A753C21BC68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176982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Lists -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F8F1563-52F5-64F5-9E38-AFF6BC9D08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23A1FB-2889-4278-472A-E598D46B9B96}"/>
              </a:ext>
            </a:extLst>
          </p:cNvPr>
          <p:cNvSpPr/>
          <p:nvPr userDrawn="1"/>
        </p:nvSpPr>
        <p:spPr>
          <a:xfrm>
            <a:off x="439838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F31D5-52EB-9BF3-7D76-7446DF1169C6}"/>
              </a:ext>
            </a:extLst>
          </p:cNvPr>
          <p:cNvSpPr/>
          <p:nvPr userDrawn="1"/>
        </p:nvSpPr>
        <p:spPr>
          <a:xfrm>
            <a:off x="3322514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1869C-E397-1B71-193C-D325AFBD8B76}"/>
              </a:ext>
            </a:extLst>
          </p:cNvPr>
          <p:cNvSpPr/>
          <p:nvPr userDrawn="1"/>
        </p:nvSpPr>
        <p:spPr>
          <a:xfrm>
            <a:off x="6205190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3539C-B80E-8CAC-08A7-266FD1C70955}"/>
              </a:ext>
            </a:extLst>
          </p:cNvPr>
          <p:cNvSpPr/>
          <p:nvPr userDrawn="1"/>
        </p:nvSpPr>
        <p:spPr>
          <a:xfrm>
            <a:off x="9087866" y="1620456"/>
            <a:ext cx="2696901" cy="35881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85" y="2818614"/>
            <a:ext cx="2396357" cy="21816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0362" y="2823193"/>
            <a:ext cx="2372905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751F2C91-0ADE-804A-514F-9DAB265E73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7321" y="2823193"/>
            <a:ext cx="2388019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0A55D8DC-6054-43C8-228C-9915CD529F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4279" y="2823193"/>
            <a:ext cx="2403134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bg2"/>
                </a:solidFill>
              </a:defRPr>
            </a:lvl1pPr>
            <a:lvl2pPr algn="l">
              <a:buNone/>
              <a:defRPr sz="1400">
                <a:solidFill>
                  <a:schemeClr val="bg2"/>
                </a:solidFill>
              </a:defRPr>
            </a:lvl2pPr>
            <a:lvl3pPr algn="l">
              <a:buNone/>
              <a:defRPr sz="1200">
                <a:solidFill>
                  <a:schemeClr val="bg2"/>
                </a:solidFill>
              </a:defRPr>
            </a:lvl3pPr>
            <a:lvl4pPr algn="l">
              <a:buNone/>
              <a:defRPr sz="1100">
                <a:solidFill>
                  <a:schemeClr val="bg2"/>
                </a:solidFill>
              </a:defRPr>
            </a:lvl4pPr>
            <a:lvl5pPr algn="l">
              <a:buNone/>
              <a:defRPr sz="11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F60D6AF-E38B-C990-E7CA-B47501FF19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2786" y="1721922"/>
            <a:ext cx="1824593" cy="917106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8AC034E9-AF64-6846-572B-EE89034210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60362" y="1721921"/>
            <a:ext cx="1586200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6" name="Content Placeholder 22">
            <a:extLst>
              <a:ext uri="{FF2B5EF4-FFF2-40B4-BE49-F238E27FC236}">
                <a16:creationId xmlns:a16="http://schemas.microsoft.com/office/drawing/2014/main" id="{A5F18ACF-A060-2840-0830-2FD402D478A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7321" y="1721921"/>
            <a:ext cx="1556613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AFF63ABF-C25A-F717-41D6-55B45846DC8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4279" y="1721921"/>
            <a:ext cx="1573326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36" name="Content Placeholder 22">
            <a:extLst>
              <a:ext uri="{FF2B5EF4-FFF2-40B4-BE49-F238E27FC236}">
                <a16:creationId xmlns:a16="http://schemas.microsoft.com/office/drawing/2014/main" id="{6E153E88-3888-50C1-8102-D111902361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1B0E33E7-7855-913B-B53C-3C18BBAFBD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54225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297880DD-E35A-C92B-0B1A-E0ABA651C9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00541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1" name="Picture Placeholder 25">
            <a:extLst>
              <a:ext uri="{FF2B5EF4-FFF2-40B4-BE49-F238E27FC236}">
                <a16:creationId xmlns:a16="http://schemas.microsoft.com/office/drawing/2014/main" id="{F82AFEB0-F5C1-27C7-FF43-F1DEF1A8B3D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92614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42" name="Picture Placeholder 25">
            <a:extLst>
              <a:ext uri="{FF2B5EF4-FFF2-40B4-BE49-F238E27FC236}">
                <a16:creationId xmlns:a16="http://schemas.microsoft.com/office/drawing/2014/main" id="{7A793EC5-EF66-6F9D-E41D-A26C798AE77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884687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38AB01E-27DA-D511-4D7F-BD2178A4DA91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FF1B9CE-12D9-133F-7FBE-6793AD37CA6C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63F3BED-F860-564F-D4EF-2A40F28BBE1C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372CEB69-3751-4F9C-9963-CE12728EDC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4 Lists - IconsHeader" descr=" Restricted - Internal">
            <a:extLst>
              <a:ext uri="{FF2B5EF4-FFF2-40B4-BE49-F238E27FC236}">
                <a16:creationId xmlns:a16="http://schemas.microsoft.com/office/drawing/2014/main" id="{D3CB29DB-DA48-4F75-99F5-93DAD2C0DEA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20615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Lists - Icons -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857D0BE5-974A-26CB-0894-E434A552FC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623A1FB-2889-4278-472A-E598D46B9B96}"/>
              </a:ext>
            </a:extLst>
          </p:cNvPr>
          <p:cNvSpPr/>
          <p:nvPr userDrawn="1"/>
        </p:nvSpPr>
        <p:spPr>
          <a:xfrm>
            <a:off x="439838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8F31D5-52EB-9BF3-7D76-7446DF1169C6}"/>
              </a:ext>
            </a:extLst>
          </p:cNvPr>
          <p:cNvSpPr/>
          <p:nvPr userDrawn="1"/>
        </p:nvSpPr>
        <p:spPr>
          <a:xfrm>
            <a:off x="3322514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11869C-E397-1B71-193C-D325AFBD8B76}"/>
              </a:ext>
            </a:extLst>
          </p:cNvPr>
          <p:cNvSpPr/>
          <p:nvPr userDrawn="1"/>
        </p:nvSpPr>
        <p:spPr>
          <a:xfrm>
            <a:off x="6205190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43539C-B80E-8CAC-08A7-266FD1C70955}"/>
              </a:ext>
            </a:extLst>
          </p:cNvPr>
          <p:cNvSpPr/>
          <p:nvPr userDrawn="1"/>
        </p:nvSpPr>
        <p:spPr>
          <a:xfrm>
            <a:off x="9087866" y="1620456"/>
            <a:ext cx="2696901" cy="35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 b="0" i="0" dirty="0">
              <a:latin typeface="Tahoma" panose="020B060403050404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E42E72D-809E-4153-D4F5-EB955D84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6337015-A1AD-832E-7974-552CC328F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85" y="2818614"/>
            <a:ext cx="2396357" cy="218164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FAC82067-D2AD-9EA1-8609-EBD1193D21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60362" y="2823193"/>
            <a:ext cx="2372905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751F2C91-0ADE-804A-514F-9DAB265E73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37321" y="2823193"/>
            <a:ext cx="2388019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3" name="Content Placeholder 15">
            <a:extLst>
              <a:ext uri="{FF2B5EF4-FFF2-40B4-BE49-F238E27FC236}">
                <a16:creationId xmlns:a16="http://schemas.microsoft.com/office/drawing/2014/main" id="{0A55D8DC-6054-43C8-228C-9915CD529FD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214279" y="2823193"/>
            <a:ext cx="2403134" cy="2190276"/>
          </a:xfrm>
          <a:noFill/>
          <a:ln>
            <a:noFill/>
          </a:ln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  <a:lvl2pPr algn="l">
              <a:buNone/>
              <a:defRPr sz="1400">
                <a:solidFill>
                  <a:schemeClr val="tx1"/>
                </a:solidFill>
              </a:defRPr>
            </a:lvl2pPr>
            <a:lvl3pPr algn="l">
              <a:buNone/>
              <a:defRPr sz="1200">
                <a:solidFill>
                  <a:schemeClr val="tx1"/>
                </a:solidFill>
              </a:defRPr>
            </a:lvl3pPr>
            <a:lvl4pPr algn="l">
              <a:buNone/>
              <a:defRPr sz="1100">
                <a:solidFill>
                  <a:schemeClr val="tx1"/>
                </a:solidFill>
              </a:defRPr>
            </a:lvl4pPr>
            <a:lvl5pPr algn="l"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F60D6AF-E38B-C990-E7CA-B47501FF19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2786" y="1721922"/>
            <a:ext cx="1824593" cy="917106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5" name="Content Placeholder 22">
            <a:extLst>
              <a:ext uri="{FF2B5EF4-FFF2-40B4-BE49-F238E27FC236}">
                <a16:creationId xmlns:a16="http://schemas.microsoft.com/office/drawing/2014/main" id="{8AC034E9-AF64-6846-572B-EE89034210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60362" y="1721921"/>
            <a:ext cx="1586200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6" name="Content Placeholder 22">
            <a:extLst>
              <a:ext uri="{FF2B5EF4-FFF2-40B4-BE49-F238E27FC236}">
                <a16:creationId xmlns:a16="http://schemas.microsoft.com/office/drawing/2014/main" id="{A5F18ACF-A060-2840-0830-2FD402D478A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7321" y="1721921"/>
            <a:ext cx="1556613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27" name="Content Placeholder 22">
            <a:extLst>
              <a:ext uri="{FF2B5EF4-FFF2-40B4-BE49-F238E27FC236}">
                <a16:creationId xmlns:a16="http://schemas.microsoft.com/office/drawing/2014/main" id="{AFF63ABF-C25A-F717-41D6-55B45846DC8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214279" y="1721921"/>
            <a:ext cx="1573326" cy="905531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SA" dirty="0"/>
              <a:t>Paragraph</a:t>
            </a:r>
          </a:p>
          <a:p>
            <a:pPr lvl="0"/>
            <a:r>
              <a:rPr lang="en-SA" dirty="0"/>
              <a:t>Title</a:t>
            </a:r>
          </a:p>
        </p:txBody>
      </p:sp>
      <p:sp>
        <p:nvSpPr>
          <p:cNvPr id="36" name="Content Placeholder 22">
            <a:extLst>
              <a:ext uri="{FF2B5EF4-FFF2-40B4-BE49-F238E27FC236}">
                <a16:creationId xmlns:a16="http://schemas.microsoft.com/office/drawing/2014/main" id="{6E153E88-3888-50C1-8102-D1119023612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034AE82-750A-2920-BBB9-7576427F5887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4E1B82-42F4-0B17-F2B6-A7FBE0CF510E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26A1F4A-7040-9579-FBBF-C79B6AA18C00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Picture Placeholder 25">
            <a:extLst>
              <a:ext uri="{FF2B5EF4-FFF2-40B4-BE49-F238E27FC236}">
                <a16:creationId xmlns:a16="http://schemas.microsoft.com/office/drawing/2014/main" id="{17D25429-5073-79E7-F2A6-4048552C0384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254225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0" name="Picture Placeholder 25">
            <a:extLst>
              <a:ext uri="{FF2B5EF4-FFF2-40B4-BE49-F238E27FC236}">
                <a16:creationId xmlns:a16="http://schemas.microsoft.com/office/drawing/2014/main" id="{0113BB49-231B-C58C-9F8F-022599D15F0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100541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1" name="Picture Placeholder 25">
            <a:extLst>
              <a:ext uri="{FF2B5EF4-FFF2-40B4-BE49-F238E27FC236}">
                <a16:creationId xmlns:a16="http://schemas.microsoft.com/office/drawing/2014/main" id="{DA881EC2-6E08-9293-F3D2-BDA61717BAA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992614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2" name="Picture Placeholder 25">
            <a:extLst>
              <a:ext uri="{FF2B5EF4-FFF2-40B4-BE49-F238E27FC236}">
                <a16:creationId xmlns:a16="http://schemas.microsoft.com/office/drawing/2014/main" id="{1077921D-0247-99E6-A4C9-EC89A55F736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884687" y="1819021"/>
            <a:ext cx="713498" cy="71349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F383F494-57E5-4270-B7DA-B9E85248C5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4" name="hlSlideMaster.Content - 4 Lists - Icons - GreyHeader" descr=" Restricted - Internal">
            <a:extLst>
              <a:ext uri="{FF2B5EF4-FFF2-40B4-BE49-F238E27FC236}">
                <a16:creationId xmlns:a16="http://schemas.microsoft.com/office/drawing/2014/main" id="{1524FBF6-1D1F-437A-9E07-5C9D7845F12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321161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con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C96F1-C7E1-2937-36A3-58BE4B839C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56096" y="1655181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499A5-F51D-5165-A2F7-A9136AC73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59352" y="1956122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2">
            <a:extLst>
              <a:ext uri="{FF2B5EF4-FFF2-40B4-BE49-F238E27FC236}">
                <a16:creationId xmlns:a16="http://schemas.microsoft.com/office/drawing/2014/main" id="{87DDCB2D-042E-5B11-DD99-DC9E6ABDD38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3BF415B-E78B-F407-8A21-FC4E0955475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756096" y="3191162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6494692-5EEB-F667-66FA-6EC932314CDE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1759352" y="3492103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3A3BB88-83F2-E152-34DE-5E897BEB89B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756096" y="4754749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01D0D0D9-3C9C-5B8A-EFCB-B88CC1FCBF16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1759352" y="5055690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EC7D363F-C4E8-A7D8-B676-EE07E6CD4EE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417231" y="1655181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08469F7-64BA-9B7C-0366-040E994784BD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7420487" y="1956122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8533E3-C51D-0519-6493-AE4B44531BF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417231" y="3191162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1F8C497-E605-5373-B09A-8B00366AE330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7420487" y="3492103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3079E84-94FC-69A3-4774-1145D591BE2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417231" y="4754749"/>
            <a:ext cx="3761555" cy="289366"/>
          </a:xfrm>
        </p:spPr>
        <p:txBody>
          <a:bodyPr anchor="t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4C02E5-E113-17D2-564F-6A3417DA60AE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7420487" y="5055690"/>
            <a:ext cx="3773347" cy="844951"/>
          </a:xfrm>
        </p:spPr>
        <p:txBody>
          <a:bodyPr>
            <a:normAutofit/>
          </a:bodyPr>
          <a:lstStyle>
            <a:lvl1pPr algn="l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392C386-1B8F-083D-B47A-96459FE018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08763" y="1666213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AA2A3F07-F48F-25F1-85BD-3EE8167CBE0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08763" y="3187268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B8C0D888-36DB-17AE-B9B4-B0E0FC0884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08763" y="4774002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2C6AC6B0-7385-6BEC-9FFF-680591C11C6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00061" y="1666213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30" name="Picture Placeholder 25">
            <a:extLst>
              <a:ext uri="{FF2B5EF4-FFF2-40B4-BE49-F238E27FC236}">
                <a16:creationId xmlns:a16="http://schemas.microsoft.com/office/drawing/2014/main" id="{D691207C-6B33-C37C-5CFD-86D8F1A2282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200061" y="3187268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31" name="Picture Placeholder 25">
            <a:extLst>
              <a:ext uri="{FF2B5EF4-FFF2-40B4-BE49-F238E27FC236}">
                <a16:creationId xmlns:a16="http://schemas.microsoft.com/office/drawing/2014/main" id="{E7F1A476-8EDD-A1AD-CA96-53BD7974DFD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00061" y="4774002"/>
            <a:ext cx="1123950" cy="11239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67194C2-97FA-3623-9688-215D82575D98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A301BA50-565D-B5AD-CDD1-28C28334BDA0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ABE073F1-D6E3-F02B-B2BF-21DD3684A837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BC479CA-8161-1F12-2116-E717F5F071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5619F89-1307-E4BE-C266-2C640034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396195"/>
            <a:ext cx="7475596" cy="5314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SA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E2F8B3B-C6BB-4639-AC5C-1FDD8F9C3D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2" name="hlSlideMaster.Content - Icon - TextHeader" descr=" Restricted - Internal">
            <a:extLst>
              <a:ext uri="{FF2B5EF4-FFF2-40B4-BE49-F238E27FC236}">
                <a16:creationId xmlns:a16="http://schemas.microsoft.com/office/drawing/2014/main" id="{737E3407-75FF-4E13-ACEB-097D8D1587C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49670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5FB4BA19-83B7-9CC9-0007-0055BB015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2CA52B6-193E-9BB4-0250-A142513D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/>
          <a:p>
            <a:fld id="{41F71975-7846-BB4C-A1E0-C67B1588F58C}" type="datetime1">
              <a:rPr lang="en-US" smtClean="0"/>
              <a:t>10/22/2026</a:t>
            </a:fld>
            <a:endParaRPr lang="en-SA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028F5D3-8FE6-CFCB-FA59-E1621708E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2E6988F-157B-334A-0238-A10A0F25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FE9E883-CA34-F1AA-A822-22A2CA7A9E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4"/>
            <a:ext cx="7475596" cy="102749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Name</a:t>
            </a:r>
            <a:endParaRPr lang="en-SA" dirty="0"/>
          </a:p>
        </p:txBody>
      </p:sp>
      <p:sp>
        <p:nvSpPr>
          <p:cNvPr id="14" name="Content Placeholder 22">
            <a:extLst>
              <a:ext uri="{FF2B5EF4-FFF2-40B4-BE49-F238E27FC236}">
                <a16:creationId xmlns:a16="http://schemas.microsoft.com/office/drawing/2014/main" id="{B0CE4A07-192A-3D0A-6532-B9B833AFD4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BF514FB-1D04-DD2F-7DC3-4D10B68E8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612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7" name="Content Placeholder 22">
            <a:extLst>
              <a:ext uri="{FF2B5EF4-FFF2-40B4-BE49-F238E27FC236}">
                <a16:creationId xmlns:a16="http://schemas.microsoft.com/office/drawing/2014/main" id="{4C2E7F84-722C-AAF0-24E1-9D37CF0DBBE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8614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E9527BC-2E54-B20A-905F-FB5AF9B094CC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223790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9" name="Content Placeholder 22">
            <a:extLst>
              <a:ext uri="{FF2B5EF4-FFF2-40B4-BE49-F238E27FC236}">
                <a16:creationId xmlns:a16="http://schemas.microsoft.com/office/drawing/2014/main" id="{466E7A3C-90C5-9A46-F314-8645F141D6A3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3792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42BAF38-B1C8-5B4E-9016-4E5EDB6CD233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017064" y="2326511"/>
            <a:ext cx="3678273" cy="288209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1" name="Content Placeholder 22">
            <a:extLst>
              <a:ext uri="{FF2B5EF4-FFF2-40B4-BE49-F238E27FC236}">
                <a16:creationId xmlns:a16="http://schemas.microsoft.com/office/drawing/2014/main" id="{06A18FDE-C4BE-8EDF-2E2A-7867685D670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017066" y="1721922"/>
            <a:ext cx="3689847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C423ACE-71D6-40BD-8836-67786BA929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2" name="hlSlideMaster.Content - 3 ParagraphHeader" descr=" Restricted - Internal">
            <a:extLst>
              <a:ext uri="{FF2B5EF4-FFF2-40B4-BE49-F238E27FC236}">
                <a16:creationId xmlns:a16="http://schemas.microsoft.com/office/drawing/2014/main" id="{227711C2-2AF6-4DD5-A08A-CA978558319A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299779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Paragraph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4313D0E8-2318-5579-E5C5-CAEFBE7777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26CFA-64E9-8B45-999A-239DEA697899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223790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23792" y="1607622"/>
            <a:ext cx="749830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AF984-C260-5FD4-997D-BDA4A75A0E2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8017064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1143DCA-B39E-4E2E-992A-767656E38E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2 Paragraph - RightHeader" descr=" Restricted - Internal">
            <a:extLst>
              <a:ext uri="{FF2B5EF4-FFF2-40B4-BE49-F238E27FC236}">
                <a16:creationId xmlns:a16="http://schemas.microsoft.com/office/drawing/2014/main" id="{D03A0606-79AB-414A-A4E5-35DD175A7E7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6736348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Paragraph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AC70483-2B0C-96E7-F07B-AB358F9FD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17B8D-8FE7-7B44-8F64-B5618752C1B8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89990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89992" y="1607622"/>
            <a:ext cx="749830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CAF984-C260-5FD4-997D-BDA4A75A0E2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4283264" y="2326511"/>
            <a:ext cx="3678273" cy="36424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B4C5D4-2C64-4A84-B50A-78FFA280A9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2 Paragraph - LeftHeader" descr=" Restricted - Internal">
            <a:extLst>
              <a:ext uri="{FF2B5EF4-FFF2-40B4-BE49-F238E27FC236}">
                <a16:creationId xmlns:a16="http://schemas.microsoft.com/office/drawing/2014/main" id="{AC95E1E2-11BF-462D-9C87-E1040403B757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0054730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aragraph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CE808049-E356-00AB-80A0-46B96AB50D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7C2D9-7195-7244-B1C6-A3E86D754EEE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502690" y="1587501"/>
            <a:ext cx="3678273" cy="438150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1800">
                <a:solidFill>
                  <a:schemeClr val="tx1"/>
                </a:solidFill>
              </a:defRPr>
            </a:lvl1pPr>
            <a:lvl2pPr algn="l">
              <a:buNone/>
              <a:defRPr sz="1600">
                <a:solidFill>
                  <a:schemeClr val="tx1"/>
                </a:solidFill>
              </a:defRPr>
            </a:lvl2pPr>
            <a:lvl3pPr algn="l">
              <a:buNone/>
              <a:defRPr sz="1400">
                <a:solidFill>
                  <a:schemeClr val="tx1"/>
                </a:solidFill>
              </a:defRPr>
            </a:lvl3pPr>
            <a:lvl4pPr algn="l">
              <a:buNone/>
              <a:defRPr sz="1200">
                <a:solidFill>
                  <a:schemeClr val="tx1"/>
                </a:solidFill>
              </a:defRPr>
            </a:lvl4pPr>
            <a:lvl5pPr algn="l"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27" name="Chart Placeholder 24">
            <a:extLst>
              <a:ext uri="{FF2B5EF4-FFF2-40B4-BE49-F238E27FC236}">
                <a16:creationId xmlns:a16="http://schemas.microsoft.com/office/drawing/2014/main" id="{B22B9C08-B693-E45A-F1E0-CDA457E93CC9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4291732" y="1612900"/>
            <a:ext cx="7469738" cy="437642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SA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A113285-B5DD-4685-A7B6-B109797566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Paragraph - ChartHeader" descr=" Restricted - Internal">
            <a:extLst>
              <a:ext uri="{FF2B5EF4-FFF2-40B4-BE49-F238E27FC236}">
                <a16:creationId xmlns:a16="http://schemas.microsoft.com/office/drawing/2014/main" id="{EC9E1598-60E5-450B-B7E9-EAB295372D3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56125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aragraph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BFDC455F-D4DB-9385-ED4C-55722B1444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63686"/>
          <a:stretch>
            <a:fillRect/>
          </a:stretch>
        </p:blipFill>
        <p:spPr>
          <a:xfrm>
            <a:off x="0" y="40513"/>
            <a:ext cx="474143" cy="130568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23321-5F39-438D-ED9E-318659351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3F94F-EBD3-6444-B152-ACDBCAA72CD3}" type="datetime1">
              <a:rPr lang="en-US" smtClean="0"/>
              <a:t>10/22/2026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D2038-896B-D2EF-0BD9-4B8C90D1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DBDD-7708-9FDC-A6FC-0239FC0B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8DFDE-9A40-284C-AD4F-E2716817ACDF}" type="slidenum">
              <a:rPr lang="en-SA" smtClean="0"/>
              <a:t>‹#›</a:t>
            </a:fld>
            <a:endParaRPr lang="en-SA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A9E7A29-4FE5-42E4-2D79-A4E5304745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396195"/>
            <a:ext cx="7475596" cy="543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9" name="Content Placeholder 22">
            <a:extLst>
              <a:ext uri="{FF2B5EF4-FFF2-40B4-BE49-F238E27FC236}">
                <a16:creationId xmlns:a16="http://schemas.microsoft.com/office/drawing/2014/main" id="{A75C75B9-BD97-2FC9-62A7-9D6EE55BD8A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65464" y="174507"/>
            <a:ext cx="7474769" cy="300055"/>
          </a:xfrm>
        </p:spPr>
        <p:txBody>
          <a:bodyPr>
            <a:noAutofit/>
          </a:bodyPr>
          <a:lstStyle>
            <a:lvl1pPr algn="l">
              <a:buNone/>
              <a:defRPr sz="1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Sub Section Name</a:t>
            </a:r>
            <a:endParaRPr lang="en-S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B1E13DC-D002-AB88-B5AA-5CF752DE1FCF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5702300" y="2326511"/>
            <a:ext cx="6032500" cy="2956689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algn="l">
              <a:buNone/>
              <a:defRPr sz="2000">
                <a:solidFill>
                  <a:schemeClr val="tx1"/>
                </a:solidFill>
              </a:defRPr>
            </a:lvl1pPr>
            <a:lvl2pPr algn="l">
              <a:buNone/>
              <a:defRPr sz="1800">
                <a:solidFill>
                  <a:schemeClr val="tx1"/>
                </a:solidFill>
              </a:defRPr>
            </a:lvl2pPr>
            <a:lvl3pPr algn="l">
              <a:buNone/>
              <a:defRPr sz="1600">
                <a:solidFill>
                  <a:schemeClr val="tx1"/>
                </a:solidFill>
              </a:defRPr>
            </a:lvl3pPr>
            <a:lvl4pPr algn="l">
              <a:buNone/>
              <a:defRPr sz="1400">
                <a:solidFill>
                  <a:schemeClr val="tx1"/>
                </a:solidFill>
              </a:defRPr>
            </a:lvl4pPr>
            <a:lvl5pPr algn="l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11" name="Content Placeholder 22">
            <a:extLst>
              <a:ext uri="{FF2B5EF4-FFF2-40B4-BE49-F238E27FC236}">
                <a16:creationId xmlns:a16="http://schemas.microsoft.com/office/drawing/2014/main" id="{8BA0A0C5-2BA8-8615-1843-ECB252AAEDE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699802" y="1607622"/>
            <a:ext cx="6022298" cy="523567"/>
          </a:xfrm>
        </p:spPr>
        <p:txBody>
          <a:bodyPr>
            <a:noAutofit/>
          </a:bodyPr>
          <a:lstStyle>
            <a:lvl1pPr algn="l"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SA" dirty="0"/>
              <a:t>ParagraphTitle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2DD4980-501F-4262-A046-E774E8D00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509" y="382393"/>
            <a:ext cx="1852451" cy="634897"/>
          </a:xfrm>
          <a:prstGeom prst="rect">
            <a:avLst/>
          </a:prstGeom>
        </p:spPr>
      </p:pic>
      <p:sp>
        <p:nvSpPr>
          <p:cNvPr id="5" name="hlSlideMaster.Content - Paragraph - RightHeader" descr=" Restricted - Internal">
            <a:extLst>
              <a:ext uri="{FF2B5EF4-FFF2-40B4-BE49-F238E27FC236}">
                <a16:creationId xmlns:a16="http://schemas.microsoft.com/office/drawing/2014/main" id="{97E0A0D3-3947-4F10-8178-1CE7EB9C60F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110608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2454" y="2307772"/>
            <a:ext cx="7488850" cy="1698171"/>
          </a:xfrm>
        </p:spPr>
        <p:txBody>
          <a:bodyPr anchor="t">
            <a:no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Our goal is to localize</a:t>
            </a:r>
            <a:br>
              <a:rPr lang="en-US" dirty="0"/>
            </a:br>
            <a:r>
              <a:rPr lang="en-US" dirty="0"/>
              <a:t>more than 50% of military</a:t>
            </a:r>
            <a:br>
              <a:rPr lang="en-US" dirty="0"/>
            </a:br>
            <a:r>
              <a:rPr lang="en-US" dirty="0"/>
              <a:t>spending by 2030</a:t>
            </a:r>
            <a:endParaRPr lang="en-SA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52C02CC2-509D-0A97-78E7-EC4F992DF7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A315DF-33CA-6045-813C-77162077FD50}" type="datetime1">
              <a:rPr lang="en-US" smtClean="0"/>
              <a:t>10/22/2026</a:t>
            </a:fld>
            <a:endParaRPr lang="en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1C770-181C-57BD-0C40-E0B20FB259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0808" y="0"/>
            <a:ext cx="6674020" cy="6858000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455" y="4206757"/>
            <a:ext cx="5580993" cy="1029272"/>
          </a:xfrm>
        </p:spPr>
        <p:txBody>
          <a:bodyPr>
            <a:normAutofit/>
          </a:bodyPr>
          <a:lstStyle>
            <a:lvl1pPr marL="0" indent="0" algn="l">
              <a:buNone/>
              <a:defRPr sz="20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HRH Prince Mohammed bin Salman bin Abdulaziz Al-Saud, Crown Prince, Prime Minister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10BF5B4-C2C1-4CFF-BDA8-C8962533CB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Highlight - QuoteHeader" descr=" Restricted - Internal">
            <a:extLst>
              <a:ext uri="{FF2B5EF4-FFF2-40B4-BE49-F238E27FC236}">
                <a16:creationId xmlns:a16="http://schemas.microsoft.com/office/drawing/2014/main" id="{C583E3F7-5E39-432B-8AF3-8A71C23D2CB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625810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F4D084-CCB3-C598-6864-2DE79B5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7C1294-7EE9-0B49-996F-10F62A597EDF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B8AFA6-C306-10D1-EF4D-6DE07EF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CE6A89-1FEA-8CCC-74C7-469D0E14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8CCD6-3D33-40AC-A851-E26C70629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4" name="hlSlideMaster.Quote - PetroleumHeader" descr=" Restricted - Internal">
            <a:extLst>
              <a:ext uri="{FF2B5EF4-FFF2-40B4-BE49-F238E27FC236}">
                <a16:creationId xmlns:a16="http://schemas.microsoft.com/office/drawing/2014/main" id="{30472CE5-5CE0-4707-8121-D09C1F13041C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003120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- Petroleu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E9F4D084-CCB3-C598-6864-2DE79B54A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F7C1294-7EE9-0B49-996F-10F62A597EDF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7B8AFA6-C306-10D1-EF4D-6DE07EF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32CE6A89-1FEA-8CCC-74C7-469D0E14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sp>
        <p:nvSpPr>
          <p:cNvPr id="4" name="hlSlideMaster.1_Quote - PetroleumHeader" descr=" Restricted - Internal">
            <a:extLst>
              <a:ext uri="{FF2B5EF4-FFF2-40B4-BE49-F238E27FC236}">
                <a16:creationId xmlns:a16="http://schemas.microsoft.com/office/drawing/2014/main" id="{EACEFCDB-0828-4DAB-9FE9-F0EECEBA76B0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6872309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Deep 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549026FB-05AE-E7D9-94EC-0053FEA7F0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255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032921-1C18-CA4B-8481-CB157EFAEBAB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696881C-3931-15BB-7B51-4B5157F5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146143"/>
            <a:ext cx="41148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F1026D2-D4BD-366C-F2E3-C64B00A8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7442" y="6146143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6D3A931-801A-4528-8A0C-93DF1F2713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6" name="hlSlideMaster.Quote - Deep TealHeader" descr=" Restricted - Internal">
            <a:extLst>
              <a:ext uri="{FF2B5EF4-FFF2-40B4-BE49-F238E27FC236}">
                <a16:creationId xmlns:a16="http://schemas.microsoft.com/office/drawing/2014/main" id="{B0E7EDB7-941F-41FA-BAD7-AEEE30EE2A3B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33976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666D03-62F7-7A1D-CA87-BC26FB5B74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SA"/>
          </a:p>
        </p:txBody>
      </p:sp>
      <p:sp>
        <p:nvSpPr>
          <p:cNvPr id="2" name="hlSlideMaster.Full ImageHeader" descr=" Restricted - Internal">
            <a:extLst>
              <a:ext uri="{FF2B5EF4-FFF2-40B4-BE49-F238E27FC236}">
                <a16:creationId xmlns:a16="http://schemas.microsoft.com/office/drawing/2014/main" id="{E0A20A39-12CA-4F37-BAC2-CB6FB4776B13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5514929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3A23B204-3FD0-8AE8-526A-F0CE934435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2775857"/>
            <a:ext cx="7598229" cy="1230086"/>
          </a:xfrm>
        </p:spPr>
        <p:txBody>
          <a:bodyPr anchor="ctr"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National </a:t>
            </a:r>
            <a:r>
              <a:rPr lang="en-US" dirty="0" err="1"/>
              <a:t>Defence</a:t>
            </a:r>
            <a:r>
              <a:rPr lang="en-US" dirty="0"/>
              <a:t> and</a:t>
            </a:r>
            <a:br>
              <a:rPr lang="en-US" dirty="0"/>
            </a:br>
            <a:r>
              <a:rPr lang="en-US" dirty="0"/>
              <a:t>Security Champion</a:t>
            </a:r>
            <a:endParaRPr lang="en-SA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D324DDB-A703-835E-AD14-2CBF0956E5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75114" y="2279985"/>
            <a:ext cx="7637310" cy="34347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 line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01983-E197-D8F2-B35B-24580E13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F74BB6-3291-E949-B26F-B908A2E6EAFD}" type="datetime1">
              <a:rPr lang="en-US" smtClean="0"/>
              <a:t>10/22/2026</a:t>
            </a:fld>
            <a:endParaRPr lang="en-S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949D1-5151-E2BC-6249-E8D0164C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SA" dirty="0">
              <a:solidFill>
                <a:schemeClr val="bg2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27A81-E6CF-2617-3595-B755AF13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86F154-2ADC-4A71-BFF9-947882475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9912" y="382393"/>
            <a:ext cx="1861646" cy="634897"/>
          </a:xfrm>
          <a:prstGeom prst="rect">
            <a:avLst/>
          </a:prstGeom>
        </p:spPr>
      </p:pic>
      <p:sp>
        <p:nvSpPr>
          <p:cNvPr id="3" name="hlSlideMaster.Quote - GreyHeader" descr=" Restricted - Internal">
            <a:extLst>
              <a:ext uri="{FF2B5EF4-FFF2-40B4-BE49-F238E27FC236}">
                <a16:creationId xmlns:a16="http://schemas.microsoft.com/office/drawing/2014/main" id="{F76B760B-902E-4400-B150-039DBDEC7945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6744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- 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97E5F-AEAB-509D-1671-9ACA81A00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06AE2-3D73-68DD-BE34-58DC0547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2887000"/>
            <a:ext cx="5612524" cy="11351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S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950B0D-6A71-4287-91C3-EAD74FF041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898" y="3108960"/>
            <a:ext cx="1861646" cy="634897"/>
          </a:xfrm>
          <a:prstGeom prst="rect">
            <a:avLst/>
          </a:prstGeom>
        </p:spPr>
      </p:pic>
      <p:sp>
        <p:nvSpPr>
          <p:cNvPr id="3" name="hlSlideMaster.End - Thank YouHeader" descr=" Restricted - Internal">
            <a:extLst>
              <a:ext uri="{FF2B5EF4-FFF2-40B4-BE49-F238E27FC236}">
                <a16:creationId xmlns:a16="http://schemas.microsoft.com/office/drawing/2014/main" id="{40948914-FB24-4D29-94F5-31D9D133DC9F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561752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- Thank You"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797E5F-AEAB-509D-1671-9ACA81A00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906AE2-3D73-68DD-BE34-58DC05470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456" y="2887000"/>
            <a:ext cx="5612524" cy="11351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Thank You</a:t>
            </a:r>
            <a:endParaRPr lang="en-SA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BBB199-24B7-4B74-B34D-AE5D539531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67898" y="3108960"/>
            <a:ext cx="1861646" cy="634897"/>
          </a:xfrm>
          <a:prstGeom prst="rect">
            <a:avLst/>
          </a:prstGeom>
        </p:spPr>
      </p:pic>
      <p:sp>
        <p:nvSpPr>
          <p:cNvPr id="3" name="hlSlideMaster.1_End - Thank YouHeader" descr=" Restricted - Internal">
            <a:extLst>
              <a:ext uri="{FF2B5EF4-FFF2-40B4-BE49-F238E27FC236}">
                <a16:creationId xmlns:a16="http://schemas.microsoft.com/office/drawing/2014/main" id="{7DE71191-B063-48C2-8C02-B4E3291DBF62}"/>
              </a:ext>
            </a:extLst>
          </p:cNvPr>
          <p:cNvSpPr txBox="1"/>
          <p:nvPr userDrawn="1"/>
        </p:nvSpPr>
        <p:spPr>
          <a:xfrm>
            <a:off x="0" y="0"/>
            <a:ext cx="12192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r>
              <a:rPr lang="en-US" sz="800" b="1" i="0" u="none" strike="noStrike" baseline="0">
                <a:solidFill>
                  <a:srgbClr val="FFA5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Restricted </a:t>
            </a:r>
            <a:r>
              <a:rPr lang="en-US" sz="80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- </a:t>
            </a:r>
            <a:r>
              <a:rPr lang="en-US" sz="800" b="1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413275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8A61D-9E85-ECAD-BBEA-3F7575632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462455"/>
            <a:ext cx="5612524" cy="1135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Section Name</a:t>
            </a:r>
            <a:endParaRPr lang="en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349BE-0479-630C-BC15-0C5CEBB92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966" y="1660634"/>
            <a:ext cx="11235558" cy="4729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F2250-C9F1-81E0-14B7-240A4A179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6255" y="6146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0D51B381-1D51-9F45-9F6E-EFE94B0A86E0}" type="datetime1">
              <a:rPr lang="en-US" smtClean="0"/>
              <a:t>10/22/2026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3E943-1392-92A6-986B-E85FD7BA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7442" y="6146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3F08DFDE-9A40-284C-AD4F-E2716817ACDF}" type="slidenum">
              <a:rPr lang="en-SA" smtClean="0"/>
              <a:pPr/>
              <a:t>‹#›</a:t>
            </a:fld>
            <a:endParaRPr lang="en-SA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F50E5F-D974-541E-A111-607CA2CC9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61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</a:defRPr>
            </a:lvl1pPr>
          </a:lstStyle>
          <a:p>
            <a:endParaRPr lang="en-SA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5C1E60-BA40-4D94-85FB-DD83DC69A54F}"/>
              </a:ext>
            </a:extLst>
          </p:cNvPr>
          <p:cNvGrpSpPr/>
          <p:nvPr userDrawn="1"/>
        </p:nvGrpSpPr>
        <p:grpSpPr>
          <a:xfrm>
            <a:off x="7456715" y="7043058"/>
            <a:ext cx="4735286" cy="337457"/>
            <a:chOff x="9002486" y="7086600"/>
            <a:chExt cx="3189514" cy="42610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813B16-AA22-4715-804C-674BAA2AC76E}"/>
                </a:ext>
              </a:extLst>
            </p:cNvPr>
            <p:cNvSpPr/>
            <p:nvPr userDrawn="1"/>
          </p:nvSpPr>
          <p:spPr>
            <a:xfrm>
              <a:off x="9463053" y="7086600"/>
              <a:ext cx="426109" cy="426109"/>
            </a:xfrm>
            <a:prstGeom prst="rect">
              <a:avLst/>
            </a:prstGeom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3FEE25-325D-4923-9E82-6BBA01F644BE}"/>
                </a:ext>
              </a:extLst>
            </p:cNvPr>
            <p:cNvSpPr/>
            <p:nvPr userDrawn="1"/>
          </p:nvSpPr>
          <p:spPr>
            <a:xfrm>
              <a:off x="9002486" y="7086600"/>
              <a:ext cx="426109" cy="42610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95ACFE0-6D16-4870-88B3-CCA79F254D6D}"/>
                </a:ext>
              </a:extLst>
            </p:cNvPr>
            <p:cNvSpPr/>
            <p:nvPr userDrawn="1"/>
          </p:nvSpPr>
          <p:spPr>
            <a:xfrm>
              <a:off x="9923620" y="7086600"/>
              <a:ext cx="426109" cy="426109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7D7645-B742-4839-BC56-0D24BC2761E9}"/>
                </a:ext>
              </a:extLst>
            </p:cNvPr>
            <p:cNvSpPr/>
            <p:nvPr userDrawn="1"/>
          </p:nvSpPr>
          <p:spPr>
            <a:xfrm>
              <a:off x="10384187" y="7086600"/>
              <a:ext cx="426109" cy="42610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79236C3-CA8B-4950-BC8E-E61D4E8F73F8}"/>
                </a:ext>
              </a:extLst>
            </p:cNvPr>
            <p:cNvSpPr/>
            <p:nvPr userDrawn="1"/>
          </p:nvSpPr>
          <p:spPr>
            <a:xfrm>
              <a:off x="10844754" y="7086600"/>
              <a:ext cx="426109" cy="426109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DE9B63-3BBF-4EF7-8121-6D548C7E2A01}"/>
                </a:ext>
              </a:extLst>
            </p:cNvPr>
            <p:cNvSpPr/>
            <p:nvPr userDrawn="1"/>
          </p:nvSpPr>
          <p:spPr>
            <a:xfrm>
              <a:off x="11305321" y="7086600"/>
              <a:ext cx="426109" cy="42610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8D77A1-CE46-4D52-8B45-19610A924D4F}"/>
                </a:ext>
              </a:extLst>
            </p:cNvPr>
            <p:cNvSpPr/>
            <p:nvPr userDrawn="1"/>
          </p:nvSpPr>
          <p:spPr>
            <a:xfrm>
              <a:off x="11765891" y="7086600"/>
              <a:ext cx="426109" cy="426109"/>
            </a:xfrm>
            <a:prstGeom prst="rect">
              <a:avLst/>
            </a:prstGeom>
            <a:solidFill>
              <a:srgbClr val="252525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SA"/>
            </a:p>
          </p:txBody>
        </p:sp>
      </p:grpSp>
    </p:spTree>
    <p:extLst>
      <p:ext uri="{BB962C8B-B14F-4D97-AF65-F5344CB8AC3E}">
        <p14:creationId xmlns:p14="http://schemas.microsoft.com/office/powerpoint/2010/main" val="219900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3" r:id="rId4"/>
    <p:sldLayoutId id="2147483664" r:id="rId5"/>
    <p:sldLayoutId id="2147483665" r:id="rId6"/>
    <p:sldLayoutId id="2147483650" r:id="rId7"/>
    <p:sldLayoutId id="2147483672" r:id="rId8"/>
    <p:sldLayoutId id="2147483681" r:id="rId9"/>
    <p:sldLayoutId id="2147483682" r:id="rId10"/>
    <p:sldLayoutId id="2147483680" r:id="rId11"/>
    <p:sldLayoutId id="2147483651" r:id="rId12"/>
    <p:sldLayoutId id="2147483667" r:id="rId13"/>
    <p:sldLayoutId id="2147483666" r:id="rId14"/>
    <p:sldLayoutId id="2147483668" r:id="rId15"/>
    <p:sldLayoutId id="2147483653" r:id="rId16"/>
    <p:sldLayoutId id="2147483654" r:id="rId17"/>
    <p:sldLayoutId id="2147483655" r:id="rId18"/>
    <p:sldLayoutId id="2147483671" r:id="rId19"/>
    <p:sldLayoutId id="2147483670" r:id="rId20"/>
    <p:sldLayoutId id="2147483669" r:id="rId21"/>
    <p:sldLayoutId id="2147483674" r:id="rId22"/>
    <p:sldLayoutId id="2147483675" r:id="rId23"/>
    <p:sldLayoutId id="2147483683" r:id="rId24"/>
    <p:sldLayoutId id="2147483676" r:id="rId25"/>
    <p:sldLayoutId id="2147483678" r:id="rId26"/>
    <p:sldLayoutId id="2147483677" r:id="rId27"/>
    <p:sldLayoutId id="2147483662" r:id="rId28"/>
    <p:sldLayoutId id="2147483679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3" pos="1436" userDrawn="1">
          <p15:clr>
            <a:srgbClr val="F26B43"/>
          </p15:clr>
        </p15:guide>
        <p15:guide id="4" pos="6244" userDrawn="1">
          <p15:clr>
            <a:srgbClr val="F26B43"/>
          </p15:clr>
        </p15:guide>
        <p15:guide id="5" pos="6199" userDrawn="1">
          <p15:clr>
            <a:srgbClr val="F26B43"/>
          </p15:clr>
        </p15:guide>
        <p15:guide id="6" pos="5042" userDrawn="1">
          <p15:clr>
            <a:srgbClr val="F26B43"/>
          </p15:clr>
        </p15:guide>
        <p15:guide id="7" pos="4997" userDrawn="1">
          <p15:clr>
            <a:srgbClr val="F26B43"/>
          </p15:clr>
        </p15:guide>
        <p15:guide id="8" pos="1481" userDrawn="1">
          <p15:clr>
            <a:srgbClr val="F26B43"/>
          </p15:clr>
        </p15:guide>
        <p15:guide id="9" pos="2615" userDrawn="1">
          <p15:clr>
            <a:srgbClr val="F26B43"/>
          </p15:clr>
        </p15:guide>
        <p15:guide id="10" pos="2661" userDrawn="1">
          <p15:clr>
            <a:srgbClr val="F26B43"/>
          </p15:clr>
        </p15:guide>
        <p15:guide id="11" pos="3863" userDrawn="1">
          <p15:clr>
            <a:srgbClr val="F26B43"/>
          </p15:clr>
        </p15:guide>
        <p15:guide id="12" pos="3817" userDrawn="1">
          <p15:clr>
            <a:srgbClr val="F26B43"/>
          </p15:clr>
        </p15:guide>
        <p15:guide id="14" orient="horz" pos="300" userDrawn="1">
          <p15:clr>
            <a:srgbClr val="F26B43"/>
          </p15:clr>
        </p15:guide>
        <p15:guide id="15" orient="horz" pos="4020" userDrawn="1">
          <p15:clr>
            <a:srgbClr val="F26B43"/>
          </p15:clr>
        </p15:guide>
        <p15:guide id="16" orient="horz" pos="1003" userDrawn="1">
          <p15:clr>
            <a:srgbClr val="F26B43"/>
          </p15:clr>
        </p15:guide>
        <p15:guide id="17" orient="horz" pos="1752" userDrawn="1">
          <p15:clr>
            <a:srgbClr val="F26B43"/>
          </p15:clr>
        </p15:guide>
        <p15:guide id="18" orient="horz" pos="1797" userDrawn="1">
          <p15:clr>
            <a:srgbClr val="F26B43"/>
          </p15:clr>
        </p15:guide>
        <p15:guide id="19" orient="horz" pos="3317" userDrawn="1">
          <p15:clr>
            <a:srgbClr val="F26B43"/>
          </p15:clr>
        </p15:guide>
        <p15:guide id="20" orient="horz" pos="3271" userDrawn="1">
          <p15:clr>
            <a:srgbClr val="F26B43"/>
          </p15:clr>
        </p15:guide>
        <p15:guide id="21" orient="horz" pos="2523" userDrawn="1">
          <p15:clr>
            <a:srgbClr val="F26B43"/>
          </p15:clr>
        </p15:guide>
        <p15:guide id="22" orient="horz" pos="2568" userDrawn="1">
          <p15:clr>
            <a:srgbClr val="F26B43"/>
          </p15:clr>
        </p15:guide>
        <p15:guide id="23" orient="horz" pos="1049" userDrawn="1">
          <p15:clr>
            <a:srgbClr val="F26B43"/>
          </p15:clr>
        </p15:guide>
        <p15:guide id="24" orient="horz" pos="2160" userDrawn="1">
          <p15:clr>
            <a:srgbClr val="C35EA4"/>
          </p15:clr>
        </p15:guide>
        <p15:guide id="25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B81552E-701C-4547-A6AF-D13617AB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4A8AE5B-8B8A-44B5-84E0-F3BEC8742B83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06CE2C8D-1222-45EE-8DAF-4F0C775038D1}"/>
              </a:ext>
            </a:extLst>
          </p:cNvPr>
          <p:cNvSpPr txBox="1">
            <a:spLocks/>
          </p:cNvSpPr>
          <p:nvPr/>
        </p:nvSpPr>
        <p:spPr>
          <a:xfrm>
            <a:off x="462455" y="3607452"/>
            <a:ext cx="10456558" cy="12086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r>
              <a:rPr lang="en-AU"/>
              <a:t>HAZEM Voice Agent</a:t>
            </a:r>
            <a:br>
              <a:rPr lang="en-US"/>
            </a:br>
            <a:endParaRPr lang="en-SA" dirty="0"/>
          </a:p>
        </p:txBody>
      </p:sp>
      <p:sp>
        <p:nvSpPr>
          <p:cNvPr id="22" name="Subtitle 6">
            <a:extLst>
              <a:ext uri="{FF2B5EF4-FFF2-40B4-BE49-F238E27FC236}">
                <a16:creationId xmlns:a16="http://schemas.microsoft.com/office/drawing/2014/main" id="{C7503DED-C48A-49C9-919B-3937ECD71F3D}"/>
              </a:ext>
            </a:extLst>
          </p:cNvPr>
          <p:cNvSpPr txBox="1">
            <a:spLocks/>
          </p:cNvSpPr>
          <p:nvPr/>
        </p:nvSpPr>
        <p:spPr>
          <a:xfrm>
            <a:off x="462455" y="2782389"/>
            <a:ext cx="9609008" cy="3602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000"/>
              <a:t>A real-time voice assistant in Arabic and English that runs on your own computer and can control it.</a:t>
            </a:r>
          </a:p>
          <a:p>
            <a:endParaRPr lang="en-SA" sz="2000" dirty="0"/>
          </a:p>
        </p:txBody>
      </p:sp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Voice assistants depend on the cloud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Problem </a:t>
            </a:r>
            <a:endParaRPr lang="en-S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C8DEB250-ED16-DAEF-242D-7090689AE4FA}"/>
              </a:ext>
            </a:extLst>
          </p:cNvPr>
          <p:cNvSpPr/>
          <p:nvPr/>
        </p:nvSpPr>
        <p:spPr>
          <a:xfrm>
            <a:off x="8367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313EB46-B0FC-F26E-E1BE-DA60E352CBF8}"/>
              </a:ext>
            </a:extLst>
          </p:cNvPr>
          <p:cNvSpPr/>
          <p:nvPr/>
        </p:nvSpPr>
        <p:spPr>
          <a:xfrm>
            <a:off x="10939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Privacy</a:t>
            </a:r>
            <a:endParaRPr lang="en-US" sz="1700" dirty="0">
              <a:solidFill>
                <a:srgbClr val="71BD4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C8B2278-9168-8ABC-B449-45EDDF2C8F67}"/>
              </a:ext>
            </a:extLst>
          </p:cNvPr>
          <p:cNvSpPr/>
          <p:nvPr/>
        </p:nvSpPr>
        <p:spPr>
          <a:xfrm>
            <a:off x="1093932" y="2882900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and text may be sent to external cloud servers.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F55DC55-1779-23BA-CE4B-8C94EDE73F82}"/>
              </a:ext>
            </a:extLst>
          </p:cNvPr>
          <p:cNvSpPr/>
          <p:nvPr/>
        </p:nvSpPr>
        <p:spPr>
          <a:xfrm>
            <a:off x="35291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8555BE6-28F1-1BD7-D614-36645C734A86}"/>
              </a:ext>
            </a:extLst>
          </p:cNvPr>
          <p:cNvSpPr/>
          <p:nvPr/>
        </p:nvSpPr>
        <p:spPr>
          <a:xfrm>
            <a:off x="37863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400"/>
              </a:lnSpc>
            </a:pPr>
            <a:r>
              <a:rPr lang="en-US" sz="17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 Dependency</a:t>
            </a:r>
            <a:endParaRPr lang="en-US" sz="1700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26B0279A-AE5D-806B-79FF-B1F2852B04E8}"/>
              </a:ext>
            </a:extLst>
          </p:cNvPr>
          <p:cNvSpPr/>
          <p:nvPr/>
        </p:nvSpPr>
        <p:spPr>
          <a:xfrm>
            <a:off x="3786332" y="2882900"/>
            <a:ext cx="202755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Cloud-based assistants require internet access and external services.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5CC45994-1B43-BCD4-3195-3D0B44F19EBA}"/>
              </a:ext>
            </a:extLst>
          </p:cNvPr>
          <p:cNvSpPr/>
          <p:nvPr/>
        </p:nvSpPr>
        <p:spPr>
          <a:xfrm>
            <a:off x="62215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A159FE4-F92E-286D-BBB9-8CF8F8F99D49}"/>
              </a:ext>
            </a:extLst>
          </p:cNvPr>
          <p:cNvSpPr/>
          <p:nvPr/>
        </p:nvSpPr>
        <p:spPr>
          <a:xfrm>
            <a:off x="64787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Language</a:t>
            </a:r>
            <a:endParaRPr lang="en-US" sz="17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35AB3F29-071E-327F-B871-A1FC3A328D28}"/>
              </a:ext>
            </a:extLst>
          </p:cNvPr>
          <p:cNvSpPr/>
          <p:nvPr/>
        </p:nvSpPr>
        <p:spPr>
          <a:xfrm>
            <a:off x="6467302" y="2882900"/>
            <a:ext cx="223710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100"/>
              </a:lnSpc>
            </a:pPr>
            <a:r>
              <a:rPr lang="en-AU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Arabic and English are often handled separately or inconsistently.</a:t>
            </a:r>
            <a:endParaRPr lang="en-US" sz="15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DDD50DB6-1351-DB05-0D59-83FB5763501C}"/>
              </a:ext>
            </a:extLst>
          </p:cNvPr>
          <p:cNvSpPr/>
          <p:nvPr/>
        </p:nvSpPr>
        <p:spPr>
          <a:xfrm>
            <a:off x="8913957" y="2219325"/>
            <a:ext cx="2482850" cy="198755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A0296A29-C592-409E-D023-5819C8E33748}"/>
              </a:ext>
            </a:extLst>
          </p:cNvPr>
          <p:cNvSpPr/>
          <p:nvPr/>
        </p:nvSpPr>
        <p:spPr>
          <a:xfrm>
            <a:off x="9171132" y="2476500"/>
            <a:ext cx="20275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C7C7C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</a:t>
            </a:r>
            <a:endParaRPr lang="en-US" sz="1700" dirty="0">
              <a:solidFill>
                <a:srgbClr val="C7C7C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7F60325D-5100-885A-6B8D-E7C833F17A03}"/>
              </a:ext>
            </a:extLst>
          </p:cNvPr>
          <p:cNvSpPr/>
          <p:nvPr/>
        </p:nvSpPr>
        <p:spPr>
          <a:xfrm>
            <a:off x="9171132" y="2882900"/>
            <a:ext cx="2027555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assistants only talk. Users also want tasks done on their computer.</a:t>
            </a:r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08A2E41A-862B-1E5F-705B-09294B5511A6}"/>
              </a:ext>
            </a:extLst>
          </p:cNvPr>
          <p:cNvSpPr/>
          <p:nvPr/>
        </p:nvSpPr>
        <p:spPr>
          <a:xfrm>
            <a:off x="836757" y="480993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need:</a:t>
            </a:r>
            <a:r>
              <a:rPr lang="en-US" sz="15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5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fast, private assistant that speaks both languages and can act, with no cloud.</a:t>
            </a:r>
          </a:p>
        </p:txBody>
      </p:sp>
    </p:spTree>
    <p:extLst>
      <p:ext uri="{BB962C8B-B14F-4D97-AF65-F5344CB8AC3E}">
        <p14:creationId xmlns:p14="http://schemas.microsoft.com/office/powerpoint/2010/main" val="572077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A voice assistant that lives on your PC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Project Idea </a:t>
            </a:r>
            <a:endParaRPr lang="en-SA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842C1FD-3B0C-4158-837A-7A763269D9B9}"/>
              </a:ext>
            </a:extLst>
          </p:cNvPr>
          <p:cNvSpPr/>
          <p:nvPr/>
        </p:nvSpPr>
        <p:spPr>
          <a:xfrm>
            <a:off x="574629" y="1720690"/>
            <a:ext cx="9345225" cy="612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talk to HAZEM in a browser page. It answers by voice and carries out commands on Windows.</a:t>
            </a:r>
          </a:p>
          <a:p>
            <a:endParaRPr lang="en-US" sz="1600" dirty="0">
              <a:solidFill>
                <a:srgbClr val="47585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A744BCB-932D-5FA0-7FEA-FBE4E037D20D}"/>
              </a:ext>
            </a:extLst>
          </p:cNvPr>
          <p:cNvSpPr/>
          <p:nvPr/>
        </p:nvSpPr>
        <p:spPr>
          <a:xfrm>
            <a:off x="839956" y="2536664"/>
            <a:ext cx="6888480" cy="1507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AI models run on the local machine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 and text are processed locally, not in the cloud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Replies in the language you spoke: Arabic or English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interrupt it at any time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FDA45006-2AB8-F0CA-FE76-1EEF2EB21758}"/>
              </a:ext>
            </a:extLst>
          </p:cNvPr>
          <p:cNvSpPr/>
          <p:nvPr/>
        </p:nvSpPr>
        <p:spPr>
          <a:xfrm>
            <a:off x="7728436" y="2536664"/>
            <a:ext cx="3810000" cy="2537420"/>
          </a:xfrm>
          <a:prstGeom prst="roundRect">
            <a:avLst>
              <a:gd name="adj" fmla="val 4004"/>
            </a:avLst>
          </a:prstGeom>
          <a:solidFill>
            <a:srgbClr val="2D4B59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C400F51-B41E-8F0F-599C-C9B3B9745607}"/>
              </a:ext>
            </a:extLst>
          </p:cNvPr>
          <p:cNvSpPr/>
          <p:nvPr/>
        </p:nvSpPr>
        <p:spPr>
          <a:xfrm>
            <a:off x="7985230" y="2739865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700" b="1" kern="0" spc="150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  <a:endParaRPr lang="en-US" sz="17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115ABA6-B12C-FB3A-163E-161D529D497E}"/>
              </a:ext>
            </a:extLst>
          </p:cNvPr>
          <p:cNvSpPr/>
          <p:nvPr/>
        </p:nvSpPr>
        <p:spPr>
          <a:xfrm>
            <a:off x="8011156" y="3127810"/>
            <a:ext cx="32964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Chrome and search for flights from Riyadh to Jeddah"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Image 0" descr="line">
            <a:extLst>
              <a:ext uri="{FF2B5EF4-FFF2-40B4-BE49-F238E27FC236}">
                <a16:creationId xmlns:a16="http://schemas.microsoft.com/office/drawing/2014/main" id="{15F19EDC-1EEA-D72E-32D8-F53F0432FB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33236" y="3842185"/>
            <a:ext cx="3200400" cy="635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7" name="Text 7">
            <a:extLst>
              <a:ext uri="{FF2B5EF4-FFF2-40B4-BE49-F238E27FC236}">
                <a16:creationId xmlns:a16="http://schemas.microsoft.com/office/drawing/2014/main" id="{AA530DD5-043A-5C26-AD48-832E504D5476}"/>
              </a:ext>
            </a:extLst>
          </p:cNvPr>
          <p:cNvSpPr/>
          <p:nvPr/>
        </p:nvSpPr>
        <p:spPr>
          <a:xfrm>
            <a:off x="8033236" y="3975535"/>
            <a:ext cx="32964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"كم الساعة؟"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Image 1" descr="line">
            <a:extLst>
              <a:ext uri="{FF2B5EF4-FFF2-40B4-BE49-F238E27FC236}">
                <a16:creationId xmlns:a16="http://schemas.microsoft.com/office/drawing/2014/main" id="{9E6B0A78-C8F1-B735-3E97-D6330357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33236" y="4369235"/>
            <a:ext cx="3200400" cy="635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9" name="Text 8">
            <a:extLst>
              <a:ext uri="{FF2B5EF4-FFF2-40B4-BE49-F238E27FC236}">
                <a16:creationId xmlns:a16="http://schemas.microsoft.com/office/drawing/2014/main" id="{BCAA36EE-1CDD-F7E6-848B-C121C8E01DEE}"/>
              </a:ext>
            </a:extLst>
          </p:cNvPr>
          <p:cNvSpPr/>
          <p:nvPr/>
        </p:nvSpPr>
        <p:spPr>
          <a:xfrm>
            <a:off x="8033236" y="4502585"/>
            <a:ext cx="32964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"Take a screenshot"</a:t>
            </a:r>
            <a:endParaRPr lang="en-US" sz="15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DBD4A-4668-8F57-C027-6CF92B85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2EFBD9E-9262-BBCE-9F3D-4B76E01CB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From your voice to a spoken answer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8837063-1F6A-5F39-3E87-F7CA1C56117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How It Works </a:t>
            </a:r>
            <a:endParaRPr lang="en-SA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492BFD47-8ACF-4791-7730-D08E0403F457}"/>
              </a:ext>
            </a:extLst>
          </p:cNvPr>
          <p:cNvSpPr/>
          <p:nvPr/>
        </p:nvSpPr>
        <p:spPr>
          <a:xfrm>
            <a:off x="750268" y="1997162"/>
            <a:ext cx="173861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71BD43"/>
            </a:solidFill>
            <a:prstDash val="solid"/>
          </a:ln>
        </p:spPr>
        <p:txBody>
          <a:bodyPr/>
          <a:lstStyle/>
          <a:p>
            <a:endParaRPr lang="en-US">
              <a:ln>
                <a:solidFill>
                  <a:schemeClr val="accent1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9042C0F-1B34-DC2F-17D5-5F51D0FE1C7C}"/>
              </a:ext>
            </a:extLst>
          </p:cNvPr>
          <p:cNvSpPr/>
          <p:nvPr/>
        </p:nvSpPr>
        <p:spPr>
          <a:xfrm>
            <a:off x="931243" y="217813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Listen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AE285D8-22C0-67C1-289C-CC0B4641781E}"/>
              </a:ext>
            </a:extLst>
          </p:cNvPr>
          <p:cNvSpPr/>
          <p:nvPr/>
        </p:nvSpPr>
        <p:spPr>
          <a:xfrm>
            <a:off x="931243" y="2498167"/>
            <a:ext cx="14274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browser sends your microphone audio to the local server.</a:t>
            </a:r>
          </a:p>
        </p:txBody>
      </p:sp>
      <p:pic>
        <p:nvPicPr>
          <p:cNvPr id="5" name="Image 0" descr="connector">
            <a:extLst>
              <a:ext uri="{FF2B5EF4-FFF2-40B4-BE49-F238E27FC236}">
                <a16:creationId xmlns:a16="http://schemas.microsoft.com/office/drawing/2014/main" id="{980A1AD1-F4A7-1F67-CAFF-22872630237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593653" y="2726668"/>
            <a:ext cx="254000" cy="76200"/>
          </a:xfrm>
          <a:prstGeom prst="rect">
            <a:avLst/>
          </a:prstGeom>
        </p:spPr>
      </p:pic>
      <p:sp>
        <p:nvSpPr>
          <p:cNvPr id="6" name="Shape 5">
            <a:extLst>
              <a:ext uri="{FF2B5EF4-FFF2-40B4-BE49-F238E27FC236}">
                <a16:creationId xmlns:a16="http://schemas.microsoft.com/office/drawing/2014/main" id="{C786F1A4-9CFA-9113-FE14-31233A14DDD6}"/>
              </a:ext>
            </a:extLst>
          </p:cNvPr>
          <p:cNvSpPr/>
          <p:nvPr/>
        </p:nvSpPr>
        <p:spPr>
          <a:xfrm>
            <a:off x="2952428" y="1997162"/>
            <a:ext cx="173866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2D4B59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C2E04DF-07F4-7682-33DB-9386E1F0A3B5}"/>
              </a:ext>
            </a:extLst>
          </p:cNvPr>
          <p:cNvSpPr/>
          <p:nvPr/>
        </p:nvSpPr>
        <p:spPr>
          <a:xfrm>
            <a:off x="3133403" y="2178137"/>
            <a:ext cx="1427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To text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F3B433-FE43-3B3E-08C2-498531CA88CF}"/>
              </a:ext>
            </a:extLst>
          </p:cNvPr>
          <p:cNvSpPr/>
          <p:nvPr/>
        </p:nvSpPr>
        <p:spPr>
          <a:xfrm>
            <a:off x="3133403" y="2498167"/>
            <a:ext cx="1427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Speech becomes text once you finish your sentence.</a:t>
            </a:r>
          </a:p>
        </p:txBody>
      </p:sp>
      <p:pic>
        <p:nvPicPr>
          <p:cNvPr id="10" name="Image 1" descr="connector">
            <a:extLst>
              <a:ext uri="{FF2B5EF4-FFF2-40B4-BE49-F238E27FC236}">
                <a16:creationId xmlns:a16="http://schemas.microsoft.com/office/drawing/2014/main" id="{1409E3D7-233B-4ECB-9C6D-44E5212CDDF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4795863" y="2726668"/>
            <a:ext cx="254000" cy="76200"/>
          </a:xfrm>
          <a:prstGeom prst="rect">
            <a:avLst/>
          </a:prstGeom>
        </p:spPr>
      </p:pic>
      <p:sp>
        <p:nvSpPr>
          <p:cNvPr id="13" name="Shape 8">
            <a:extLst>
              <a:ext uri="{FF2B5EF4-FFF2-40B4-BE49-F238E27FC236}">
                <a16:creationId xmlns:a16="http://schemas.microsoft.com/office/drawing/2014/main" id="{447BA938-C321-5EC1-6E23-0FCC94A1BF98}"/>
              </a:ext>
            </a:extLst>
          </p:cNvPr>
          <p:cNvSpPr/>
          <p:nvPr/>
        </p:nvSpPr>
        <p:spPr>
          <a:xfrm>
            <a:off x="5157813" y="2000337"/>
            <a:ext cx="1744960" cy="1528911"/>
          </a:xfrm>
          <a:prstGeom prst="roundRect">
            <a:avLst>
              <a:gd name="adj" fmla="val 6230"/>
            </a:avLst>
          </a:prstGeom>
          <a:noFill/>
          <a:ln w="12700">
            <a:solidFill>
              <a:srgbClr val="B5560B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0A2CF085-8841-2C33-D58C-5D099B45CC48}"/>
              </a:ext>
            </a:extLst>
          </p:cNvPr>
          <p:cNvSpPr/>
          <p:nvPr/>
        </p:nvSpPr>
        <p:spPr>
          <a:xfrm>
            <a:off x="5341963" y="218448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Decide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FA7A81-CF85-8C03-EEBB-B847139FEA20}"/>
              </a:ext>
            </a:extLst>
          </p:cNvPr>
          <p:cNvSpPr/>
          <p:nvPr/>
        </p:nvSpPr>
        <p:spPr>
          <a:xfrm>
            <a:off x="5341963" y="2504517"/>
            <a:ext cx="14274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agent chooses: run a command, or ask the AI model.</a:t>
            </a:r>
          </a:p>
        </p:txBody>
      </p:sp>
      <p:pic>
        <p:nvPicPr>
          <p:cNvPr id="16" name="Image 2" descr="connector">
            <a:extLst>
              <a:ext uri="{FF2B5EF4-FFF2-40B4-BE49-F238E27FC236}">
                <a16:creationId xmlns:a16="http://schemas.microsoft.com/office/drawing/2014/main" id="{E74046A5-5F16-2EB2-B1DE-F88573EFBF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010723" y="2726668"/>
            <a:ext cx="254000" cy="76200"/>
          </a:xfrm>
          <a:prstGeom prst="rect">
            <a:avLst/>
          </a:prstGeom>
        </p:spPr>
      </p:pic>
      <p:sp>
        <p:nvSpPr>
          <p:cNvPr id="17" name="Shape 11">
            <a:extLst>
              <a:ext uri="{FF2B5EF4-FFF2-40B4-BE49-F238E27FC236}">
                <a16:creationId xmlns:a16="http://schemas.microsoft.com/office/drawing/2014/main" id="{24FDB738-018B-5757-2A53-5757F79C95BC}"/>
              </a:ext>
            </a:extLst>
          </p:cNvPr>
          <p:cNvSpPr/>
          <p:nvPr/>
        </p:nvSpPr>
        <p:spPr>
          <a:xfrm>
            <a:off x="7369498" y="1997162"/>
            <a:ext cx="173866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F1C400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B4C4F6B-C7F9-A957-D7F2-8DA167AC04D0}"/>
              </a:ext>
            </a:extLst>
          </p:cNvPr>
          <p:cNvSpPr/>
          <p:nvPr/>
        </p:nvSpPr>
        <p:spPr>
          <a:xfrm>
            <a:off x="7550473" y="2178137"/>
            <a:ext cx="14275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Act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0FEA482-9A61-54F2-E0B4-2D454E9DD4D9}"/>
              </a:ext>
            </a:extLst>
          </p:cNvPr>
          <p:cNvSpPr/>
          <p:nvPr/>
        </p:nvSpPr>
        <p:spPr>
          <a:xfrm>
            <a:off x="7550473" y="2498167"/>
            <a:ext cx="1427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tool does the task on Windows and reports the result.</a:t>
            </a:r>
          </a:p>
        </p:txBody>
      </p:sp>
      <p:pic>
        <p:nvPicPr>
          <p:cNvPr id="20" name="Image 3" descr="connector">
            <a:extLst>
              <a:ext uri="{FF2B5EF4-FFF2-40B4-BE49-F238E27FC236}">
                <a16:creationId xmlns:a16="http://schemas.microsoft.com/office/drawing/2014/main" id="{49BF8158-FAD8-EC49-B1D1-DDEF2E9E9B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9212933" y="2726668"/>
            <a:ext cx="254000" cy="76200"/>
          </a:xfrm>
          <a:prstGeom prst="rect">
            <a:avLst/>
          </a:prstGeom>
        </p:spPr>
      </p:pic>
      <p:sp>
        <p:nvSpPr>
          <p:cNvPr id="21" name="Shape 14">
            <a:extLst>
              <a:ext uri="{FF2B5EF4-FFF2-40B4-BE49-F238E27FC236}">
                <a16:creationId xmlns:a16="http://schemas.microsoft.com/office/drawing/2014/main" id="{8EE8C2F0-1F08-A116-9342-F2D491AC0E1A}"/>
              </a:ext>
            </a:extLst>
          </p:cNvPr>
          <p:cNvSpPr/>
          <p:nvPr/>
        </p:nvSpPr>
        <p:spPr>
          <a:xfrm>
            <a:off x="9571708" y="1997162"/>
            <a:ext cx="1738610" cy="1535261"/>
          </a:xfrm>
          <a:prstGeom prst="roundRect">
            <a:avLst>
              <a:gd name="adj" fmla="val 6411"/>
            </a:avLst>
          </a:prstGeom>
          <a:solidFill>
            <a:srgbClr val="FFFFFE"/>
          </a:solidFill>
          <a:ln w="6350">
            <a:solidFill>
              <a:srgbClr val="C7C7C7"/>
            </a:solidFill>
            <a:prstDash val="solid"/>
          </a:ln>
        </p:spPr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86137C64-5280-FBDD-F2E2-8098B975890E}"/>
              </a:ext>
            </a:extLst>
          </p:cNvPr>
          <p:cNvSpPr/>
          <p:nvPr/>
        </p:nvSpPr>
        <p:spPr>
          <a:xfrm>
            <a:off x="9752683" y="2178137"/>
            <a:ext cx="14274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Speak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76B0FD1-2494-349C-A6FF-437FF11E119A}"/>
              </a:ext>
            </a:extLst>
          </p:cNvPr>
          <p:cNvSpPr/>
          <p:nvPr/>
        </p:nvSpPr>
        <p:spPr>
          <a:xfrm>
            <a:off x="9752683" y="2498167"/>
            <a:ext cx="14274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reply is turned into voice, sentence by sentence.</a:t>
            </a: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53C41CE-F9A5-C2D2-7F6D-6A70876EA9D9}"/>
              </a:ext>
            </a:extLst>
          </p:cNvPr>
          <p:cNvSpPr/>
          <p:nvPr/>
        </p:nvSpPr>
        <p:spPr>
          <a:xfrm>
            <a:off x="750268" y="4409939"/>
            <a:ext cx="330509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 path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3A4B2AB5-BD99-2089-8A0B-D1D3C1BD7C18}"/>
              </a:ext>
            </a:extLst>
          </p:cNvPr>
          <p:cNvSpPr/>
          <p:nvPr/>
        </p:nvSpPr>
        <p:spPr>
          <a:xfrm>
            <a:off x="750268" y="4740089"/>
            <a:ext cx="330509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Clear commands ("open notepad") run at once, without the AI model.</a:t>
            </a:r>
          </a:p>
        </p:txBody>
      </p:sp>
      <p:sp>
        <p:nvSpPr>
          <p:cNvPr id="27" name="Shape 20">
            <a:extLst>
              <a:ext uri="{FF2B5EF4-FFF2-40B4-BE49-F238E27FC236}">
                <a16:creationId xmlns:a16="http://schemas.microsoft.com/office/drawing/2014/main" id="{94A1B9E9-1279-6448-667E-2BDC5838FB5A}"/>
              </a:ext>
            </a:extLst>
          </p:cNvPr>
          <p:cNvSpPr/>
          <p:nvPr/>
        </p:nvSpPr>
        <p:spPr>
          <a:xfrm>
            <a:off x="4050631" y="4409939"/>
            <a:ext cx="0" cy="7416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 dirty="0">
              <a:ln>
                <a:solidFill>
                  <a:schemeClr val="accent1"/>
                </a:solidFill>
              </a:ln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7C5518AB-D2DC-9D19-9875-8ED5F75A9793}"/>
              </a:ext>
            </a:extLst>
          </p:cNvPr>
          <p:cNvSpPr/>
          <p:nvPr/>
        </p:nvSpPr>
        <p:spPr>
          <a:xfrm>
            <a:off x="4265047" y="4409939"/>
            <a:ext cx="33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Smart path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39DE15C0-412D-20E3-2239-AD9F778E83DE}"/>
              </a:ext>
            </a:extLst>
          </p:cNvPr>
          <p:cNvSpPr/>
          <p:nvPr/>
        </p:nvSpPr>
        <p:spPr>
          <a:xfrm>
            <a:off x="4265047" y="4740089"/>
            <a:ext cx="33051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Questions and multi-step requests go to the AI model, which can call tools.</a:t>
            </a:r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AACB36E0-5053-C5A0-CDC3-03AED6FDDFED}"/>
              </a:ext>
            </a:extLst>
          </p:cNvPr>
          <p:cNvSpPr/>
          <p:nvPr/>
        </p:nvSpPr>
        <p:spPr>
          <a:xfrm>
            <a:off x="7779876" y="4409939"/>
            <a:ext cx="0" cy="74166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BC4EF9D6-5784-1CF5-5E9D-7B77EDF543C3}"/>
              </a:ext>
            </a:extLst>
          </p:cNvPr>
          <p:cNvSpPr/>
          <p:nvPr/>
        </p:nvSpPr>
        <p:spPr>
          <a:xfrm>
            <a:off x="8199236" y="4409939"/>
            <a:ext cx="3305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Safety</a:t>
            </a:r>
            <a:endParaRPr lang="en-US" sz="17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D99B6AAD-20D6-AC81-3F3E-4E353028A91B}"/>
              </a:ext>
            </a:extLst>
          </p:cNvPr>
          <p:cNvSpPr/>
          <p:nvPr/>
        </p:nvSpPr>
        <p:spPr>
          <a:xfrm>
            <a:off x="8199236" y="4740089"/>
            <a:ext cx="330515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Risky actions (closing apps, shutdown) wait for a spoken yes or no.</a:t>
            </a:r>
          </a:p>
        </p:txBody>
      </p:sp>
    </p:spTree>
    <p:extLst>
      <p:ext uri="{BB962C8B-B14F-4D97-AF65-F5344CB8AC3E}">
        <p14:creationId xmlns:p14="http://schemas.microsoft.com/office/powerpoint/2010/main" val="294417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Six building blocks, all local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Main Components </a:t>
            </a:r>
            <a:endParaRPr lang="en-SA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FBDB6768-6740-482D-3A33-11D77BE61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962815"/>
              </p:ext>
            </p:extLst>
          </p:nvPr>
        </p:nvGraphicFramePr>
        <p:xfrm>
          <a:off x="597408" y="1723754"/>
          <a:ext cx="10997183" cy="3767330"/>
        </p:xfrm>
        <a:graphic>
          <a:graphicData uri="http://schemas.openxmlformats.org/drawingml/2006/table">
            <a:tbl>
              <a:tblPr/>
              <a:tblGrid>
                <a:gridCol w="2419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8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8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Component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What it does, simply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BD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A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Technology</a:t>
                      </a:r>
                      <a:endParaRPr lang="en-US" sz="13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C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 detection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Knows when you start and finish speaking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Silero VAD + Smart Turn v3.2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Speech to text (STT)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Turns your voice into Arabic or English text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faster-whisper large-v3-turbo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Language model (LLM)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Understands the request, answers, picks tools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Qwen 3.5 (9B) through Ollama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Agent and tools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Decides what to do and performs it on Windows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38 built-in tools, MCP, command router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Text to speech (TTS)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Turns the reply into a natural voice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Kokoro-82M (English), XTTS-v2 (Arabic)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19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Pipeline and UI</a:t>
                      </a:r>
                    </a:p>
                  </a:txBody>
                  <a:tcPr marL="152400" marR="152400" marT="88900" marB="889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Connects all parts and streams audio live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5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Pipecat, FastAPI, WebSocket, browser</a:t>
                      </a: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05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9109253" cy="531458"/>
          </a:xfrm>
        </p:spPr>
        <p:txBody>
          <a:bodyPr/>
          <a:lstStyle/>
          <a:p>
            <a:r>
              <a:rPr lang="en-US" dirty="0"/>
              <a:t>Fast, bilingual, and able to act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Key Features </a:t>
            </a:r>
            <a:endParaRPr lang="en-SA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74438418-7D61-E6C2-1553-50520F4471E4}"/>
              </a:ext>
            </a:extLst>
          </p:cNvPr>
          <p:cNvSpPr/>
          <p:nvPr/>
        </p:nvSpPr>
        <p:spPr>
          <a:xfrm>
            <a:off x="912028" y="1922554"/>
            <a:ext cx="549402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it can do today</a:t>
            </a:r>
            <a:endParaRPr lang="en-US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69C08D0-04C4-9BA0-246D-B18D4EC4409D}"/>
              </a:ext>
            </a:extLst>
          </p:cNvPr>
          <p:cNvSpPr/>
          <p:nvPr/>
        </p:nvSpPr>
        <p:spPr>
          <a:xfrm>
            <a:off x="1115457" y="2451556"/>
            <a:ext cx="5821763" cy="2289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Replies in Arabic or English, matching the speaker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Open, close and switch apps and windows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and YouTube search, websites, calendar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 text, press keys, move and click the mouse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Screenshots, describing and clicking what is on screen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Timers, notes, memory, files, volume, system status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Yes or no confirmation before risky actions</a:t>
            </a:r>
          </a:p>
          <a:p>
            <a:pPr marL="285750" indent="-285750" algn="l">
              <a:lnSpc>
                <a:spcPts val="21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Sleep mode and wake word ("HAZEM")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26B23B2-9960-5E44-F1D2-C9F70DA51DFC}"/>
              </a:ext>
            </a:extLst>
          </p:cNvPr>
          <p:cNvSpPr/>
          <p:nvPr/>
        </p:nvSpPr>
        <p:spPr>
          <a:xfrm>
            <a:off x="7082508" y="2123822"/>
            <a:ext cx="2336800" cy="1315690"/>
          </a:xfrm>
          <a:prstGeom prst="roundRect">
            <a:avLst>
              <a:gd name="adj" fmla="val 7722"/>
            </a:avLst>
          </a:prstGeom>
          <a:noFill/>
          <a:ln>
            <a:solidFill>
              <a:srgbClr val="71BD43"/>
            </a:solidFill>
          </a:ln>
        </p:spPr>
        <p:txBody>
          <a:bodyPr/>
          <a:lstStyle/>
          <a:p>
            <a:endParaRPr lang="en-US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A15DED5-B201-E385-57DF-F4DAA78F1163}"/>
              </a:ext>
            </a:extLst>
          </p:cNvPr>
          <p:cNvSpPr/>
          <p:nvPr/>
        </p:nvSpPr>
        <p:spPr>
          <a:xfrm>
            <a:off x="7613680" y="2234833"/>
            <a:ext cx="117197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</a:t>
            </a:r>
            <a:endParaRPr lang="en-US" sz="24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B91AFBB-9B7C-E224-444E-BD6DA925D8AC}"/>
              </a:ext>
            </a:extLst>
          </p:cNvPr>
          <p:cNvSpPr/>
          <p:nvPr/>
        </p:nvSpPr>
        <p:spPr>
          <a:xfrm>
            <a:off x="7285708" y="2824852"/>
            <a:ext cx="198831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built-in tools that act on Windows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15D4959-6363-6921-7465-08CFD0A343BA}"/>
              </a:ext>
            </a:extLst>
          </p:cNvPr>
          <p:cNvSpPr/>
          <p:nvPr/>
        </p:nvSpPr>
        <p:spPr>
          <a:xfrm>
            <a:off x="9571708" y="2123822"/>
            <a:ext cx="2336800" cy="1315690"/>
          </a:xfrm>
          <a:prstGeom prst="roundRect">
            <a:avLst>
              <a:gd name="adj" fmla="val 7722"/>
            </a:avLst>
          </a:prstGeom>
          <a:noFill/>
          <a:ln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5480AF0-9B05-2AE2-CD9E-6D9793E95BA4}"/>
              </a:ext>
            </a:extLst>
          </p:cNvPr>
          <p:cNvSpPr/>
          <p:nvPr/>
        </p:nvSpPr>
        <p:spPr>
          <a:xfrm>
            <a:off x="10102880" y="2234833"/>
            <a:ext cx="117197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endParaRPr lang="en-US" sz="24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5085412-3052-EAE6-EF0F-A8DDC108F4E5}"/>
              </a:ext>
            </a:extLst>
          </p:cNvPr>
          <p:cNvSpPr/>
          <p:nvPr/>
        </p:nvSpPr>
        <p:spPr>
          <a:xfrm>
            <a:off x="9774908" y="2824852"/>
            <a:ext cx="1988312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voices in two languages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C1DA5BF-6254-6161-A7FC-BB59206C9C3B}"/>
              </a:ext>
            </a:extLst>
          </p:cNvPr>
          <p:cNvSpPr/>
          <p:nvPr/>
        </p:nvSpPr>
        <p:spPr>
          <a:xfrm>
            <a:off x="8279674" y="3682747"/>
            <a:ext cx="2330450" cy="1527770"/>
          </a:xfrm>
          <a:prstGeom prst="roundRect">
            <a:avLst>
              <a:gd name="adj" fmla="val 6442"/>
            </a:avLst>
          </a:prstGeom>
          <a:solidFill>
            <a:srgbClr val="FFFFFE"/>
          </a:solidFill>
          <a:ln w="6350">
            <a:solidFill>
              <a:srgbClr val="B556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CCA73B3-04D9-0515-25F1-71C51037CDB8}"/>
              </a:ext>
            </a:extLst>
          </p:cNvPr>
          <p:cNvSpPr/>
          <p:nvPr/>
        </p:nvSpPr>
        <p:spPr>
          <a:xfrm>
            <a:off x="8814022" y="3796933"/>
            <a:ext cx="1164264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4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MCP</a:t>
            </a:r>
            <a:endParaRPr lang="en-US" sz="2400" dirty="0">
              <a:solidFill>
                <a:srgbClr val="B5560B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34003EE-F2EC-526B-4CDA-B1F467047498}"/>
              </a:ext>
            </a:extLst>
          </p:cNvPr>
          <p:cNvSpPr/>
          <p:nvPr/>
        </p:nvSpPr>
        <p:spPr>
          <a:xfrm>
            <a:off x="8486049" y="4386952"/>
            <a:ext cx="1975231" cy="642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4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tools from other projects, added in config.yaml</a:t>
            </a:r>
          </a:p>
        </p:txBody>
      </p:sp>
    </p:spTree>
    <p:extLst>
      <p:ext uri="{BB962C8B-B14F-4D97-AF65-F5344CB8AC3E}">
        <p14:creationId xmlns:p14="http://schemas.microsoft.com/office/powerpoint/2010/main" val="368446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sz="2600" dirty="0"/>
              <a:t>A private assistant that listens, answers and acts.</a:t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D1CFAAD3-CC5F-5558-8DF4-CBC8F5560A9A}"/>
              </a:ext>
            </a:extLst>
          </p:cNvPr>
          <p:cNvSpPr/>
          <p:nvPr/>
        </p:nvSpPr>
        <p:spPr>
          <a:xfrm>
            <a:off x="860555" y="1733582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  <a:endParaRPr lang="en-US" sz="1600" dirty="0">
              <a:solidFill>
                <a:srgbClr val="71BD43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9887EE8-0FC9-A7E0-4ECA-9DAAF3A58020}"/>
              </a:ext>
            </a:extLst>
          </p:cNvPr>
          <p:cNvSpPr/>
          <p:nvPr/>
        </p:nvSpPr>
        <p:spPr>
          <a:xfrm>
            <a:off x="931675" y="2147230"/>
            <a:ext cx="515366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Runs fully on one local machine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Speaks and understands Arabic and English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Controls the PC with 38 built-in tools and MCP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Natural conversation: fast replies, interruption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A869E03-D4A2-6A6F-FE94-A6C876489782}"/>
              </a:ext>
            </a:extLst>
          </p:cNvPr>
          <p:cNvSpPr/>
          <p:nvPr/>
        </p:nvSpPr>
        <p:spPr>
          <a:xfrm>
            <a:off x="860555" y="4067191"/>
            <a:ext cx="52324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Possible next steps</a:t>
            </a:r>
            <a:endParaRPr lang="en-US" dirty="0">
              <a:solidFill>
                <a:srgbClr val="F1C4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7FBA357-9450-0146-5289-0001E453BFDE}"/>
              </a:ext>
            </a:extLst>
          </p:cNvPr>
          <p:cNvSpPr/>
          <p:nvPr/>
        </p:nvSpPr>
        <p:spPr>
          <a:xfrm>
            <a:off x="939295" y="4492332"/>
            <a:ext cx="515366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Confirm the typing fixes on Windows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more native-sounding Arabic voice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More tools, added one small file at a time</a:t>
            </a:r>
          </a:p>
          <a:p>
            <a:pPr marL="285750" indent="-285750" algn="l">
              <a:lnSpc>
                <a:spcPts val="225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Re-run latency and tool tests on the demo PC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8B7FB4-530B-90A6-A726-265F6C1D6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3108960"/>
            <a:ext cx="1833771" cy="650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CE0CD7-FC8C-352A-A866-6A38D514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A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7210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HAZEM's main workflow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Architecture and Pipeline</a:t>
            </a:r>
            <a:endParaRPr lang="en-SA" dirty="0"/>
          </a:p>
        </p:txBody>
      </p:sp>
      <p:sp>
        <p:nvSpPr>
          <p:cNvPr id="101" name="Shape 101"/>
          <p:cNvSpPr/>
          <p:nvPr/>
        </p:nvSpPr>
        <p:spPr>
          <a:xfrm>
            <a:off x="750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 txBox="1"/>
          <p:nvPr/>
        </p:nvSpPr>
        <p:spPr>
          <a:xfrm>
            <a:off x="910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Browser</a:t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910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Mic in, speaker out</a:t>
            </a:r>
          </a:p>
        </p:txBody>
      </p:sp>
      <p:sp>
        <p:nvSpPr>
          <p:cNvPr id="104" name="Shape 104"/>
          <p:cNvSpPr/>
          <p:nvPr/>
        </p:nvSpPr>
        <p:spPr>
          <a:xfrm>
            <a:off x="2952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5"/>
          <p:cNvSpPr txBox="1"/>
          <p:nvPr/>
        </p:nvSpPr>
        <p:spPr>
          <a:xfrm>
            <a:off x="3112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Listen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3112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Silero VAD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Smart Turn</a:t>
            </a:r>
          </a:p>
        </p:txBody>
      </p:sp>
      <p:sp>
        <p:nvSpPr>
          <p:cNvPr id="107" name="Shape 107"/>
          <p:cNvSpPr/>
          <p:nvPr/>
        </p:nvSpPr>
        <p:spPr>
          <a:xfrm>
            <a:off x="5154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2D4B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 txBox="1"/>
          <p:nvPr/>
        </p:nvSpPr>
        <p:spPr>
          <a:xfrm>
            <a:off x="5314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Transcribe</a:t>
            </a:r>
          </a:p>
        </p:txBody>
      </p:sp>
      <p:sp>
        <p:nvSpPr>
          <p:cNvPr id="109" name="Text 109"/>
          <p:cNvSpPr txBox="1"/>
          <p:nvPr/>
        </p:nvSpPr>
        <p:spPr>
          <a:xfrm>
            <a:off x="5314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faster-whisper</a:t>
            </a:r>
          </a:p>
        </p:txBody>
      </p:sp>
      <p:sp>
        <p:nvSpPr>
          <p:cNvPr id="110" name="Shape 110"/>
          <p:cNvSpPr/>
          <p:nvPr/>
        </p:nvSpPr>
        <p:spPr>
          <a:xfrm>
            <a:off x="7356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B556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11"/>
          <p:cNvSpPr txBox="1"/>
          <p:nvPr/>
        </p:nvSpPr>
        <p:spPr>
          <a:xfrm>
            <a:off x="7516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Decide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7516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 router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 Qwen 3.5</a:t>
            </a:r>
          </a:p>
        </p:txBody>
      </p:sp>
      <p:sp>
        <p:nvSpPr>
          <p:cNvPr id="113" name="Shape 113"/>
          <p:cNvSpPr/>
          <p:nvPr/>
        </p:nvSpPr>
        <p:spPr>
          <a:xfrm>
            <a:off x="9558268" y="2600000"/>
            <a:ext cx="1750000" cy="11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C7C7C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4"/>
          <p:cNvSpPr txBox="1"/>
          <p:nvPr/>
        </p:nvSpPr>
        <p:spPr>
          <a:xfrm>
            <a:off x="9718268" y="27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Speak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9718268" y="3160000"/>
            <a:ext cx="143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Kokoro (EN)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XTTS-v2 (AR)</a:t>
            </a:r>
          </a:p>
        </p:txBody>
      </p:sp>
      <p:cxnSp>
        <p:nvCxnSpPr>
          <p:cNvPr id="116" name="Connector 116"/>
          <p:cNvCxnSpPr/>
          <p:nvPr/>
        </p:nvCxnSpPr>
        <p:spPr>
          <a:xfrm>
            <a:off x="2570268" y="3175000"/>
            <a:ext cx="31200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17" name="Connector 117"/>
          <p:cNvCxnSpPr/>
          <p:nvPr/>
        </p:nvCxnSpPr>
        <p:spPr>
          <a:xfrm>
            <a:off x="4772268" y="3175000"/>
            <a:ext cx="31200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18" name="Connector 118"/>
          <p:cNvCxnSpPr/>
          <p:nvPr/>
        </p:nvCxnSpPr>
        <p:spPr>
          <a:xfrm>
            <a:off x="6974268" y="3175000"/>
            <a:ext cx="31200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19" name="Connector 119"/>
          <p:cNvCxnSpPr/>
          <p:nvPr/>
        </p:nvCxnSpPr>
        <p:spPr>
          <a:xfrm>
            <a:off x="8231268" y="3810000"/>
            <a:ext cx="0" cy="43000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sp>
        <p:nvSpPr>
          <p:cNvPr id="120" name="Shape 120"/>
          <p:cNvSpPr/>
          <p:nvPr/>
        </p:nvSpPr>
        <p:spPr>
          <a:xfrm>
            <a:off x="7356268" y="4300000"/>
            <a:ext cx="1750000" cy="9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F1C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21"/>
          <p:cNvSpPr txBox="1"/>
          <p:nvPr/>
        </p:nvSpPr>
        <p:spPr>
          <a:xfrm>
            <a:off x="7516268" y="4460000"/>
            <a:ext cx="143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7516268" y="4820000"/>
            <a:ext cx="143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38 tools + MCP</a:t>
            </a:r>
          </a:p>
        </p:txBody>
      </p:sp>
      <p:cxnSp>
        <p:nvCxnSpPr>
          <p:cNvPr id="123" name="Connector 123"/>
          <p:cNvCxnSpPr/>
          <p:nvPr/>
        </p:nvCxnSpPr>
        <p:spPr>
          <a:xfrm>
            <a:off x="9176268" y="3175000"/>
            <a:ext cx="31200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24" name="Connector 124"/>
          <p:cNvCxnSpPr/>
          <p:nvPr/>
        </p:nvCxnSpPr>
        <p:spPr>
          <a:xfrm>
            <a:off x="9176268" y="4775000"/>
            <a:ext cx="1257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125" name="Connector 125"/>
          <p:cNvCxnSpPr/>
          <p:nvPr/>
        </p:nvCxnSpPr>
        <p:spPr>
          <a:xfrm flipV="1">
            <a:off x="10433268" y="3810000"/>
            <a:ext cx="0" cy="96500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cxnSp>
        <p:nvCxnSpPr>
          <p:cNvPr id="126" name="Connector 126"/>
          <p:cNvCxnSpPr/>
          <p:nvPr/>
        </p:nvCxnSpPr>
        <p:spPr>
          <a:xfrm flipV="1">
            <a:off x="10433268" y="2270000"/>
            <a:ext cx="0" cy="270000"/>
          </a:xfrm>
          <a:prstGeom prst="line">
            <a:avLst/>
          </a:prstGeom>
          <a:ln w="12700">
            <a:solidFill>
              <a:srgbClr val="47585F"/>
            </a:solidFill>
          </a:ln>
        </p:spPr>
      </p:cxnSp>
      <p:cxnSp>
        <p:nvCxnSpPr>
          <p:cNvPr id="127" name="Connector 127"/>
          <p:cNvCxnSpPr/>
          <p:nvPr/>
        </p:nvCxnSpPr>
        <p:spPr>
          <a:xfrm>
            <a:off x="1625268" y="2270000"/>
            <a:ext cx="8808000" cy="0"/>
          </a:xfrm>
          <a:prstGeom prst="line">
            <a:avLst/>
          </a:prstGeom>
          <a:ln w="12700">
            <a:solidFill>
              <a:srgbClr val="47585F"/>
            </a:solidFill>
          </a:ln>
        </p:spPr>
      </p:cxnSp>
      <p:cxnSp>
        <p:nvCxnSpPr>
          <p:cNvPr id="128" name="Connector 128"/>
          <p:cNvCxnSpPr/>
          <p:nvPr/>
        </p:nvCxnSpPr>
        <p:spPr>
          <a:xfrm>
            <a:off x="1625268" y="2270000"/>
            <a:ext cx="0" cy="270000"/>
          </a:xfrm>
          <a:prstGeom prst="line">
            <a:avLst/>
          </a:prstGeom>
          <a:ln w="12700">
            <a:solidFill>
              <a:srgbClr val="47585F"/>
            </a:solidFill>
            <a:tailEnd type="triangle"/>
          </a:ln>
        </p:spPr>
      </p:cxnSp>
      <p:sp>
        <p:nvSpPr>
          <p:cNvPr id="129" name="Text 129"/>
          <p:cNvSpPr txBox="1"/>
          <p:nvPr/>
        </p:nvSpPr>
        <p:spPr>
          <a:xfrm>
            <a:off x="1775268" y="1980000"/>
            <a:ext cx="3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Spoken reply streams back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750268" y="4550000"/>
            <a:ext cx="6306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on one Windows PC</a:t>
            </a:r>
          </a:p>
          <a:p>
            <a:pPr marL="0" indent="0" algn="l">
              <a:lnSpc>
                <a:spcPts val="16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Server: FastAPI + Pipecat    LLM: Ollama    You can interrupt at any time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Measured results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Performance</a:t>
            </a:r>
            <a:endParaRPr lang="en-SA" dirty="0"/>
          </a:p>
        </p:txBody>
      </p:sp>
      <p:sp>
        <p:nvSpPr>
          <p:cNvPr id="131" name="Text 131"/>
          <p:cNvSpPr txBox="1"/>
          <p:nvPr/>
        </p:nvSpPr>
        <p:spPr>
          <a:xfrm>
            <a:off x="750268" y="1720000"/>
            <a:ext cx="9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tests</a:t>
            </a: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   latency-bench --real  and  agent-test</a:t>
            </a:r>
          </a:p>
        </p:txBody>
      </p:sp>
      <p:sp>
        <p:nvSpPr>
          <p:cNvPr id="132" name="Shape 132"/>
          <p:cNvSpPr/>
          <p:nvPr/>
        </p:nvSpPr>
        <p:spPr>
          <a:xfrm>
            <a:off x="75026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3"/>
          <p:cNvSpPr txBox="1"/>
          <p:nvPr/>
        </p:nvSpPr>
        <p:spPr>
          <a:xfrm>
            <a:off x="91026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441 ms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91026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mean first audio</a:t>
            </a:r>
          </a:p>
        </p:txBody>
      </p:sp>
      <p:sp>
        <p:nvSpPr>
          <p:cNvPr id="135" name="Shape 135"/>
          <p:cNvSpPr/>
          <p:nvPr/>
        </p:nvSpPr>
        <p:spPr>
          <a:xfrm>
            <a:off x="290227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2D4B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6"/>
          <p:cNvSpPr txBox="1"/>
          <p:nvPr/>
        </p:nvSpPr>
        <p:spPr>
          <a:xfrm>
            <a:off x="306227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629 ms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306227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worst first audio</a:t>
            </a:r>
          </a:p>
        </p:txBody>
      </p:sp>
      <p:sp>
        <p:nvSpPr>
          <p:cNvPr id="138" name="Shape 138"/>
          <p:cNvSpPr/>
          <p:nvPr/>
        </p:nvSpPr>
        <p:spPr>
          <a:xfrm>
            <a:off x="505428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B556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9"/>
          <p:cNvSpPr txBox="1"/>
          <p:nvPr/>
        </p:nvSpPr>
        <p:spPr>
          <a:xfrm>
            <a:off x="521428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 ms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521428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audio gaps in 3 replies</a:t>
            </a:r>
          </a:p>
        </p:txBody>
      </p:sp>
      <p:sp>
        <p:nvSpPr>
          <p:cNvPr id="141" name="Shape 141"/>
          <p:cNvSpPr/>
          <p:nvPr/>
        </p:nvSpPr>
        <p:spPr>
          <a:xfrm>
            <a:off x="720629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F1C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2"/>
          <p:cNvSpPr txBox="1"/>
          <p:nvPr/>
        </p:nvSpPr>
        <p:spPr>
          <a:xfrm>
            <a:off x="736629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26 / 26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736629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correct tool choices (19 router, 7 LLM)</a:t>
            </a:r>
          </a:p>
        </p:txBody>
      </p:sp>
      <p:sp>
        <p:nvSpPr>
          <p:cNvPr id="144" name="Shape 144"/>
          <p:cNvSpPr/>
          <p:nvPr/>
        </p:nvSpPr>
        <p:spPr>
          <a:xfrm>
            <a:off x="9358308" y="2120000"/>
            <a:ext cx="1952010" cy="1250000"/>
          </a:xfrm>
          <a:prstGeom prst="roundRect">
            <a:avLst>
              <a:gd name="adj" fmla="val 7722"/>
            </a:avLst>
          </a:prstGeom>
          <a:solidFill>
            <a:srgbClr val="FFFFFE"/>
          </a:solidFill>
          <a:ln w="6350">
            <a:solidFill>
              <a:srgbClr val="C7C7C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 145"/>
          <p:cNvSpPr txBox="1"/>
          <p:nvPr/>
        </p:nvSpPr>
        <p:spPr>
          <a:xfrm>
            <a:off x="9518308" y="2270000"/>
            <a:ext cx="163201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8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252 ms</a:t>
            </a:r>
          </a:p>
        </p:txBody>
      </p:sp>
      <p:sp>
        <p:nvSpPr>
          <p:cNvPr id="146" name="Text 146"/>
          <p:cNvSpPr txBox="1"/>
          <p:nvPr/>
        </p:nvSpPr>
        <p:spPr>
          <a:xfrm>
            <a:off x="9518308" y="2800000"/>
            <a:ext cx="163201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median LLM first event</a:t>
            </a:r>
          </a:p>
        </p:txBody>
      </p:sp>
      <p:sp>
        <p:nvSpPr>
          <p:cNvPr id="147" name="Text 147"/>
          <p:cNvSpPr txBox="1"/>
          <p:nvPr/>
        </p:nvSpPr>
        <p:spPr>
          <a:xfrm>
            <a:off x="750268" y="3480000"/>
            <a:ext cx="105600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Benchmark first audio is timed from the LLM request, not the full voice turn. 26/26 measures tool selection only.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0268" y="3930000"/>
            <a:ext cx="90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Live voice test</a:t>
            </a: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   observations from real use</a:t>
            </a:r>
          </a:p>
        </p:txBody>
      </p:sp>
      <p:sp>
        <p:nvSpPr>
          <p:cNvPr id="149" name="Shape 149"/>
          <p:cNvSpPr/>
          <p:nvPr/>
        </p:nvSpPr>
        <p:spPr>
          <a:xfrm>
            <a:off x="750268" y="4330000"/>
            <a:ext cx="10560050" cy="135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50"/>
          <p:cNvSpPr txBox="1"/>
          <p:nvPr/>
        </p:nvSpPr>
        <p:spPr>
          <a:xfrm>
            <a:off x="980268" y="4530000"/>
            <a:ext cx="226501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140–700 ms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80268" y="5010000"/>
            <a:ext cx="226501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most first-audio times; some slower</a:t>
            </a:r>
          </a:p>
        </p:txBody>
      </p:sp>
      <p:cxnSp>
        <p:nvCxnSpPr>
          <p:cNvPr id="152" name="Connector 152"/>
          <p:cNvCxnSpPr/>
          <p:nvPr/>
        </p:nvCxnSpPr>
        <p:spPr>
          <a:xfrm>
            <a:off x="3385280" y="4560000"/>
            <a:ext cx="0" cy="89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53" name="Text 153"/>
          <p:cNvSpPr txBox="1"/>
          <p:nvPr/>
        </p:nvSpPr>
        <p:spPr>
          <a:xfrm>
            <a:off x="3505280" y="4530000"/>
            <a:ext cx="226501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1339 ms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3505280" y="5010000"/>
            <a:ext cx="226501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one audio gap in a reply</a:t>
            </a:r>
          </a:p>
        </p:txBody>
      </p:sp>
      <p:cxnSp>
        <p:nvCxnSpPr>
          <p:cNvPr id="155" name="Connector 155"/>
          <p:cNvCxnSpPr/>
          <p:nvPr/>
        </p:nvCxnSpPr>
        <p:spPr>
          <a:xfrm>
            <a:off x="5910292" y="4560000"/>
            <a:ext cx="0" cy="89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56" name="Text 156"/>
          <p:cNvSpPr txBox="1"/>
          <p:nvPr/>
        </p:nvSpPr>
        <p:spPr>
          <a:xfrm>
            <a:off x="6030292" y="4530000"/>
            <a:ext cx="226501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8641 ms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6030292" y="5010000"/>
            <a:ext cx="226501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audio for one calculator request (7518 ms to run)</a:t>
            </a:r>
          </a:p>
        </p:txBody>
      </p:sp>
      <p:cxnSp>
        <p:nvCxnSpPr>
          <p:cNvPr id="158" name="Connector 158"/>
          <p:cNvCxnSpPr/>
          <p:nvPr/>
        </p:nvCxnSpPr>
        <p:spPr>
          <a:xfrm>
            <a:off x="8435304" y="4560000"/>
            <a:ext cx="0" cy="89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59" name="Text 159"/>
          <p:cNvSpPr txBox="1"/>
          <p:nvPr/>
        </p:nvSpPr>
        <p:spPr>
          <a:xfrm>
            <a:off x="8555304" y="4530000"/>
            <a:ext cx="2265012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Partial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8555304" y="5010000"/>
            <a:ext cx="2265012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barge-in: some interruptions not detected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HAZEM in action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Demonstration</a:t>
            </a:r>
            <a:endParaRPr lang="en-SA" dirty="0"/>
          </a:p>
        </p:txBody>
      </p:sp>
      <p:sp>
        <p:nvSpPr>
          <p:cNvPr id="159" name="Shape 159"/>
          <p:cNvSpPr/>
          <p:nvPr/>
        </p:nvSpPr>
        <p:spPr>
          <a:xfrm>
            <a:off x="750268" y="1850000"/>
            <a:ext cx="4900000" cy="430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60"/>
          <p:cNvSpPr txBox="1"/>
          <p:nvPr/>
        </p:nvSpPr>
        <p:spPr>
          <a:xfrm>
            <a:off x="980268" y="2080000"/>
            <a:ext cx="4440000" cy="3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700" b="1" dirty="0">
                <a:solidFill>
                  <a:srgbClr val="B5560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DEMO SCRIPT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1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"Open Notepad and type hello world"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2  </a:t>
            </a:r>
            <a:r>
              <a:rPr lang="ar-SA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"افتح المفكرة واكتب مرحبا"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3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"What's on my screen right now?"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4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"Remind me in ten minutes to check the oven"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5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"Close Chrome", then answer yes or no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6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Interrupt a long answer by speaking</a:t>
            </a:r>
          </a:p>
          <a:p>
            <a:pPr marL="0" indent="0" algn="l">
              <a:lnSpc>
                <a:spcPts val="1900"/>
              </a:lnSpc>
              <a:spcBef>
                <a:spcPts val="900"/>
              </a:spcBef>
              <a:buNone/>
            </a:pPr>
            <a:r>
              <a:rPr lang="en-US" sz="14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7  </a:t>
            </a:r>
            <a:r>
              <a:rPr lang="en-US" sz="14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"Go to sleep", then "HAZEM" to wake it</a:t>
            </a:r>
          </a:p>
        </p:txBody>
      </p:sp>
      <p:sp>
        <p:nvSpPr>
          <p:cNvPr id="161" name="Shape 161"/>
          <p:cNvSpPr/>
          <p:nvPr/>
        </p:nvSpPr>
        <p:spPr>
          <a:xfrm>
            <a:off x="5950268" y="1850000"/>
            <a:ext cx="5360050" cy="4300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C7C7C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2"/>
          <p:cNvSpPr txBox="1"/>
          <p:nvPr/>
        </p:nvSpPr>
        <p:spPr>
          <a:xfrm>
            <a:off x="5950268" y="1850000"/>
            <a:ext cx="536005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Screenshots or live demo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Add images of the browser view here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MCP: tools from other programs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MCP in HAZEM</a:t>
            </a:r>
            <a:endParaRPr lang="en-SA" dirty="0"/>
          </a:p>
        </p:txBody>
      </p:sp>
      <p:sp>
        <p:nvSpPr>
          <p:cNvPr id="101" name="Text 101"/>
          <p:cNvSpPr txBox="1"/>
          <p:nvPr/>
        </p:nvSpPr>
        <p:spPr>
          <a:xfrm>
            <a:off x="750268" y="1700000"/>
            <a:ext cx="1056005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MCP (Model Context Protocol): </a:t>
            </a:r>
            <a:r>
              <a:rPr lang="en-US" sz="15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standard way for an AI app to use tools that live in another program.</a:t>
            </a:r>
          </a:p>
        </p:txBody>
      </p:sp>
      <p:sp>
        <p:nvSpPr>
          <p:cNvPr id="102" name="Shape 102"/>
          <p:cNvSpPr/>
          <p:nvPr/>
        </p:nvSpPr>
        <p:spPr>
          <a:xfrm>
            <a:off x="750268" y="2450000"/>
            <a:ext cx="3250000" cy="3250000"/>
          </a:xfrm>
          <a:prstGeom prst="roundRect">
            <a:avLst>
              <a:gd name="adj" fmla="val 4952"/>
            </a:avLst>
          </a:prstGeom>
          <a:solidFill>
            <a:srgbClr val="2D4B59"/>
          </a:solidFill>
          <a:ln w="6350">
            <a:solidFill>
              <a:srgbClr val="D5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3"/>
          <p:cNvSpPr txBox="1"/>
          <p:nvPr/>
        </p:nvSpPr>
        <p:spPr>
          <a:xfrm>
            <a:off x="950268" y="2670000"/>
            <a:ext cx="291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71BD4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HAZEM</a:t>
            </a:r>
          </a:p>
        </p:txBody>
      </p:sp>
      <p:sp>
        <p:nvSpPr>
          <p:cNvPr id="104" name="Text 104"/>
          <p:cNvSpPr txBox="1"/>
          <p:nvPr/>
        </p:nvSpPr>
        <p:spPr>
          <a:xfrm>
            <a:off x="950268" y="3070000"/>
            <a:ext cx="291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1C4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MCP host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950268" y="3550000"/>
            <a:ext cx="2850000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Starts each server and lists its tools</a:t>
            </a:r>
          </a:p>
          <a:p>
            <a:pPr marL="0" indent="0" algn="l">
              <a:lnSpc>
                <a:spcPts val="1700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Qwen 3.5 sees them as normal tools</a:t>
            </a:r>
          </a:p>
          <a:p>
            <a:pPr marL="0" indent="0" algn="l">
              <a:lnSpc>
                <a:spcPts val="1700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F6F8F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Sends the calls and speaks the results</a:t>
            </a:r>
          </a:p>
        </p:txBody>
      </p:sp>
      <p:sp>
        <p:nvSpPr>
          <p:cNvPr id="106" name="Shape 106"/>
          <p:cNvSpPr/>
          <p:nvPr/>
        </p:nvSpPr>
        <p:spPr>
          <a:xfrm>
            <a:off x="6700000" y="2450000"/>
            <a:ext cx="4610318" cy="9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7"/>
          <p:cNvSpPr txBox="1"/>
          <p:nvPr/>
        </p:nvSpPr>
        <p:spPr>
          <a:xfrm>
            <a:off x="6870000" y="2600000"/>
            <a:ext cx="427031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Filesystem</a:t>
            </a: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   official server</a:t>
            </a:r>
          </a:p>
        </p:txBody>
      </p:sp>
      <p:sp>
        <p:nvSpPr>
          <p:cNvPr id="108" name="Text 108"/>
          <p:cNvSpPr txBox="1"/>
          <p:nvPr/>
        </p:nvSpPr>
        <p:spPr>
          <a:xfrm>
            <a:off x="6870000" y="2990000"/>
            <a:ext cx="427031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 file tools, only in Documents/HAZEM</a:t>
            </a:r>
          </a:p>
        </p:txBody>
      </p:sp>
      <p:cxnSp>
        <p:nvCxnSpPr>
          <p:cNvPr id="109" name="Connector 109"/>
          <p:cNvCxnSpPr/>
          <p:nvPr/>
        </p:nvCxnSpPr>
        <p:spPr>
          <a:xfrm>
            <a:off x="4080268" y="2925000"/>
            <a:ext cx="2539732" cy="0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</p:cxnSp>
      <p:sp>
        <p:nvSpPr>
          <p:cNvPr id="110" name="Shape 110"/>
          <p:cNvSpPr/>
          <p:nvPr/>
        </p:nvSpPr>
        <p:spPr>
          <a:xfrm>
            <a:off x="6700000" y="3600000"/>
            <a:ext cx="4610318" cy="9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B556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11"/>
          <p:cNvSpPr txBox="1"/>
          <p:nvPr/>
        </p:nvSpPr>
        <p:spPr>
          <a:xfrm>
            <a:off x="6870000" y="3750000"/>
            <a:ext cx="427031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Calculator</a:t>
            </a: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   example project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6870000" y="4140000"/>
            <a:ext cx="427031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calculator__add_numbers</a:t>
            </a:r>
          </a:p>
        </p:txBody>
      </p:sp>
      <p:cxnSp>
        <p:nvCxnSpPr>
          <p:cNvPr id="113" name="Connector 113"/>
          <p:cNvCxnSpPr/>
          <p:nvPr/>
        </p:nvCxnSpPr>
        <p:spPr>
          <a:xfrm>
            <a:off x="4080268" y="4075000"/>
            <a:ext cx="2539732" cy="0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</p:cxnSp>
      <p:sp>
        <p:nvSpPr>
          <p:cNvPr id="114" name="Shape 114"/>
          <p:cNvSpPr/>
          <p:nvPr/>
        </p:nvSpPr>
        <p:spPr>
          <a:xfrm>
            <a:off x="6700000" y="4750000"/>
            <a:ext cx="4610318" cy="95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F1C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5"/>
          <p:cNvSpPr txBox="1"/>
          <p:nvPr/>
        </p:nvSpPr>
        <p:spPr>
          <a:xfrm>
            <a:off x="6870000" y="4900000"/>
            <a:ext cx="427031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Notes</a:t>
            </a: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   example project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6870000" y="5290000"/>
            <a:ext cx="427031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notes__add_note, notes__list_notes</a:t>
            </a:r>
          </a:p>
        </p:txBody>
      </p:sp>
      <p:cxnSp>
        <p:nvCxnSpPr>
          <p:cNvPr id="117" name="Connector 117"/>
          <p:cNvCxnSpPr/>
          <p:nvPr/>
        </p:nvCxnSpPr>
        <p:spPr>
          <a:xfrm>
            <a:off x="4080268" y="5225000"/>
            <a:ext cx="2539732" cy="0"/>
          </a:xfrm>
          <a:prstGeom prst="line">
            <a:avLst/>
          </a:prstGeom>
          <a:ln w="12700">
            <a:solidFill>
              <a:schemeClr val="accent1"/>
            </a:solidFill>
            <a:headEnd type="triangle"/>
            <a:tailEnd type="triangle"/>
          </a:ln>
        </p:spPr>
      </p:cxnSp>
      <p:sp>
        <p:nvSpPr>
          <p:cNvPr id="118" name="Text 118"/>
          <p:cNvSpPr txBox="1"/>
          <p:nvPr/>
        </p:nvSpPr>
        <p:spPr>
          <a:xfrm>
            <a:off x="4080268" y="2150000"/>
            <a:ext cx="2539732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stdio: JSON messages, no network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4180268" y="4195000"/>
            <a:ext cx="233973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Each server runs as its own process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E3957B-8CB5-513A-8094-AA97D3D9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5" y="618649"/>
            <a:ext cx="11261000" cy="531458"/>
          </a:xfrm>
        </p:spPr>
        <p:txBody>
          <a:bodyPr/>
          <a:lstStyle/>
          <a:p>
            <a:r>
              <a:rPr lang="en-US" dirty="0"/>
              <a:t>How an MCP tool call works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43EE340-754A-0EED-4938-57778C5DB00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2455" y="328096"/>
            <a:ext cx="7474769" cy="300055"/>
          </a:xfrm>
        </p:spPr>
        <p:txBody>
          <a:bodyPr/>
          <a:lstStyle/>
          <a:p>
            <a:r>
              <a:rPr lang="en-US" dirty="0"/>
              <a:t>MCP in HAZEM</a:t>
            </a:r>
            <a:endParaRPr lang="en-SA" dirty="0"/>
          </a:p>
        </p:txBody>
      </p:sp>
      <p:sp>
        <p:nvSpPr>
          <p:cNvPr id="120" name="Shape 120"/>
          <p:cNvSpPr/>
          <p:nvPr/>
        </p:nvSpPr>
        <p:spPr>
          <a:xfrm>
            <a:off x="750268" y="1900000"/>
            <a:ext cx="2450000" cy="138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71BD4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21"/>
          <p:cNvSpPr txBox="1"/>
          <p:nvPr/>
        </p:nvSpPr>
        <p:spPr>
          <a:xfrm>
            <a:off x="920268" y="2070000"/>
            <a:ext cx="21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Start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920268" y="2420000"/>
            <a:ext cx="211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HAZEM starts each server and asks for its tools.</a:t>
            </a:r>
          </a:p>
        </p:txBody>
      </p:sp>
      <p:cxnSp>
        <p:nvCxnSpPr>
          <p:cNvPr id="123" name="Connector 123"/>
          <p:cNvCxnSpPr/>
          <p:nvPr/>
        </p:nvCxnSpPr>
        <p:spPr>
          <a:xfrm>
            <a:off x="3250268" y="2590000"/>
            <a:ext cx="15335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sp>
        <p:nvSpPr>
          <p:cNvPr id="124" name="Shape 124"/>
          <p:cNvSpPr/>
          <p:nvPr/>
        </p:nvSpPr>
        <p:spPr>
          <a:xfrm>
            <a:off x="3453618" y="1900000"/>
            <a:ext cx="2450000" cy="138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2D4B5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5"/>
          <p:cNvSpPr txBox="1"/>
          <p:nvPr/>
        </p:nvSpPr>
        <p:spPr>
          <a:xfrm>
            <a:off x="3623618" y="2070000"/>
            <a:ext cx="21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Show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3623618" y="2420000"/>
            <a:ext cx="211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Qwen sees them as normal tools, e.g. calculator__add_numbers.</a:t>
            </a:r>
          </a:p>
        </p:txBody>
      </p:sp>
      <p:cxnSp>
        <p:nvCxnSpPr>
          <p:cNvPr id="127" name="Connector 127"/>
          <p:cNvCxnSpPr/>
          <p:nvPr/>
        </p:nvCxnSpPr>
        <p:spPr>
          <a:xfrm>
            <a:off x="5953618" y="2590000"/>
            <a:ext cx="15335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sp>
        <p:nvSpPr>
          <p:cNvPr id="128" name="Shape 128"/>
          <p:cNvSpPr/>
          <p:nvPr/>
        </p:nvSpPr>
        <p:spPr>
          <a:xfrm>
            <a:off x="6156968" y="1900000"/>
            <a:ext cx="2450000" cy="138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B5560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9"/>
          <p:cNvSpPr txBox="1"/>
          <p:nvPr/>
        </p:nvSpPr>
        <p:spPr>
          <a:xfrm>
            <a:off x="6326968" y="2070000"/>
            <a:ext cx="21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 Call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6326968" y="2420000"/>
            <a:ext cx="211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Qwen picks a tool. HAZEM sends the call to the server.</a:t>
            </a:r>
          </a:p>
        </p:txBody>
      </p:sp>
      <p:cxnSp>
        <p:nvCxnSpPr>
          <p:cNvPr id="131" name="Connector 131"/>
          <p:cNvCxnSpPr/>
          <p:nvPr/>
        </p:nvCxnSpPr>
        <p:spPr>
          <a:xfrm>
            <a:off x="8656968" y="2590000"/>
            <a:ext cx="153350" cy="0"/>
          </a:xfrm>
          <a:prstGeom prst="line">
            <a:avLst/>
          </a:prstGeom>
          <a:ln w="12700">
            <a:solidFill>
              <a:schemeClr val="accent1"/>
            </a:solidFill>
            <a:tailEnd type="triangle"/>
          </a:ln>
        </p:spPr>
      </p:cxnSp>
      <p:sp>
        <p:nvSpPr>
          <p:cNvPr id="132" name="Shape 132"/>
          <p:cNvSpPr/>
          <p:nvPr/>
        </p:nvSpPr>
        <p:spPr>
          <a:xfrm>
            <a:off x="8860318" y="1900000"/>
            <a:ext cx="2450000" cy="1380000"/>
          </a:xfrm>
          <a:prstGeom prst="roundRect">
            <a:avLst>
              <a:gd name="adj" fmla="val 4952"/>
            </a:avLst>
          </a:prstGeom>
          <a:solidFill>
            <a:srgbClr val="FFFFFE"/>
          </a:solidFill>
          <a:ln w="6350">
            <a:solidFill>
              <a:srgbClr val="F1C4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3"/>
          <p:cNvSpPr txBox="1"/>
          <p:nvPr/>
        </p:nvSpPr>
        <p:spPr>
          <a:xfrm>
            <a:off x="9030318" y="2070000"/>
            <a:ext cx="211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 Answer</a:t>
            </a:r>
          </a:p>
        </p:txBody>
      </p:sp>
      <p:sp>
        <p:nvSpPr>
          <p:cNvPr id="134" name="Text 134"/>
          <p:cNvSpPr txBox="1"/>
          <p:nvPr/>
        </p:nvSpPr>
        <p:spPr>
          <a:xfrm>
            <a:off x="9030318" y="2420000"/>
            <a:ext cx="2110000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result comes back and HAZEM speaks it.</a:t>
            </a:r>
          </a:p>
        </p:txBody>
      </p:sp>
      <p:sp>
        <p:nvSpPr>
          <p:cNvPr id="135" name="Text 135"/>
          <p:cNvSpPr txBox="1"/>
          <p:nvPr/>
        </p:nvSpPr>
        <p:spPr>
          <a:xfrm>
            <a:off x="750268" y="3480000"/>
            <a:ext cx="105600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 xml:space="preserve">Try it:  </a:t>
            </a: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"Add 25 and 17 with the MCP calculator."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750268" y="4080000"/>
            <a:ext cx="3220016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 only</a:t>
            </a:r>
          </a:p>
        </p:txBody>
      </p:sp>
      <p:sp>
        <p:nvSpPr>
          <p:cNvPr id="137" name="Text 137"/>
          <p:cNvSpPr txBox="1"/>
          <p:nvPr/>
        </p:nvSpPr>
        <p:spPr>
          <a:xfrm>
            <a:off x="750268" y="4410000"/>
            <a:ext cx="322001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new server needs a few lines in config.yaml. No HAZEM code change.</a:t>
            </a:r>
          </a:p>
        </p:txBody>
      </p:sp>
      <p:cxnSp>
        <p:nvCxnSpPr>
          <p:cNvPr id="138" name="Connector 138"/>
          <p:cNvCxnSpPr/>
          <p:nvPr/>
        </p:nvCxnSpPr>
        <p:spPr>
          <a:xfrm>
            <a:off x="4270284" y="4080000"/>
            <a:ext cx="0" cy="76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39" name="Text 139"/>
          <p:cNvSpPr txBox="1"/>
          <p:nvPr/>
        </p:nvSpPr>
        <p:spPr>
          <a:xfrm>
            <a:off x="4470284" y="4080000"/>
            <a:ext cx="3220016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Safe by default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4470284" y="4410000"/>
            <a:ext cx="322001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Write tools ask yes or no first. Read-only tools run at once.</a:t>
            </a:r>
          </a:p>
        </p:txBody>
      </p:sp>
      <p:cxnSp>
        <p:nvCxnSpPr>
          <p:cNvPr id="141" name="Connector 141"/>
          <p:cNvCxnSpPr/>
          <p:nvPr/>
        </p:nvCxnSpPr>
        <p:spPr>
          <a:xfrm>
            <a:off x="7790300" y="4080000"/>
            <a:ext cx="0" cy="76000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42" name="Text 142"/>
          <p:cNvSpPr txBox="1"/>
          <p:nvPr/>
        </p:nvSpPr>
        <p:spPr>
          <a:xfrm>
            <a:off x="7990300" y="4080000"/>
            <a:ext cx="3220016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Isolated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7990300" y="4410000"/>
            <a:ext cx="3220016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47585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server that fails to start is skipped. Other tools still work.</a:t>
            </a:r>
          </a:p>
        </p:txBody>
      </p:sp>
    </p:spTree>
    <p:extLst>
      <p:ext uri="{BB962C8B-B14F-4D97-AF65-F5344CB8AC3E}">
        <p14:creationId xmlns:p14="http://schemas.microsoft.com/office/powerpoint/2010/main" val="17842018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TINGUSER" val="nmalharbi"/>
  <p:tag name="DOWNGRADED" val="False"/>
  <p:tag name="ORIGINALCLASSCONTEXT" val="Restricted"/>
  <p:tag name="FOR DLP CONTROL" val="Restricted/Internal"/>
  <p:tag name="TITUSGUID" val="edbb5c09-087a-4487-80d2-3b9a1c357c4a"/>
  <p:tag name="SAMICLASSIFICATION" val="Restricted"/>
  <p:tag name="SUBCLASSIFICATION" val="Internal"/>
</p:tagLst>
</file>

<file path=ppt/theme/theme1.xml><?xml version="1.0" encoding="utf-8"?>
<a:theme xmlns:a="http://schemas.openxmlformats.org/drawingml/2006/main" name="Office Theme">
  <a:themeElements>
    <a:clrScheme name="SAMI">
      <a:dk1>
        <a:srgbClr val="20373E"/>
      </a:dk1>
      <a:lt1>
        <a:srgbClr val="C7C7C7"/>
      </a:lt1>
      <a:dk2>
        <a:srgbClr val="2D4B5A"/>
      </a:dk2>
      <a:lt2>
        <a:srgbClr val="FEFFFF"/>
      </a:lt2>
      <a:accent1>
        <a:srgbClr val="71BD43"/>
      </a:accent1>
      <a:accent2>
        <a:srgbClr val="B5560B"/>
      </a:accent2>
      <a:accent3>
        <a:srgbClr val="C7C7C7"/>
      </a:accent3>
      <a:accent4>
        <a:srgbClr val="1C3036"/>
      </a:accent4>
      <a:accent5>
        <a:srgbClr val="E62425"/>
      </a:accent5>
      <a:accent6>
        <a:srgbClr val="2861F1"/>
      </a:accent6>
      <a:hlink>
        <a:srgbClr val="00BD21"/>
      </a:hlink>
      <a:folHlink>
        <a:srgbClr val="B5560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C74B211C-0B75-47EC-9AA0-C1C3FB442F90}" vid="{75A3957D-D1D6-4E3E-8381-55CC9AB4F3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n xmlns="66db8ef0-36a0-400b-b5be-9690f5587c16">
      <Url xsi:nil="true"/>
      <Description xsi:nil="true"/>
    </imagen>
    <Titulodeldocumento xmlns="66db8ef0-36a0-400b-b5be-9690f5587c16" xsi:nil="true"/>
    <testline xmlns="66db8ef0-36a0-400b-b5be-9690f5587c16" xsi:nil="true"/>
    <Reference xmlns="66db8ef0-36a0-400b-b5be-9690f5587c16">SA............</Reference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BF9A0AEDFA9342BC9F63BC69FC28BF" ma:contentTypeVersion="458" ma:contentTypeDescription="Create a new document." ma:contentTypeScope="" ma:versionID="bf25d72fc9ee99f874ab9aaf67f8d063">
  <xsd:schema xmlns:xsd="http://www.w3.org/2001/XMLSchema" xmlns:xs="http://www.w3.org/2001/XMLSchema" xmlns:p="http://schemas.microsoft.com/office/2006/metadata/properties" xmlns:ns2="66db8ef0-36a0-400b-b5be-9690f5587c16" xmlns:ns3="fb437292-a496-477c-9f09-94c9da3fc39c" targetNamespace="http://schemas.microsoft.com/office/2006/metadata/properties" ma:root="true" ma:fieldsID="de864a869541d9d905bc1bb26908b1e9" ns2:_="" ns3:_="">
    <xsd:import namespace="66db8ef0-36a0-400b-b5be-9690f5587c16"/>
    <xsd:import namespace="fb437292-a496-477c-9f09-94c9da3fc39c"/>
    <xsd:element name="properties">
      <xsd:complexType>
        <xsd:sequence>
          <xsd:element name="documentManagement">
            <xsd:complexType>
              <xsd:all>
                <xsd:element ref="ns2:testline" minOccurs="0"/>
                <xsd:element ref="ns2:imagen" minOccurs="0"/>
                <xsd:element ref="ns2:Titulodeldocumento" minOccurs="0"/>
                <xsd:element ref="ns2:Referenc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b8ef0-36a0-400b-b5be-9690f5587c16" elementFormDefault="qualified">
    <xsd:import namespace="http://schemas.microsoft.com/office/2006/documentManagement/types"/>
    <xsd:import namespace="http://schemas.microsoft.com/office/infopath/2007/PartnerControls"/>
    <xsd:element name="testline" ma:index="4" nillable="true" ma:displayName="test line" ma:description="test line description" ma:internalName="testline" ma:readOnly="false">
      <xsd:simpleType>
        <xsd:restriction base="dms:Text">
          <xsd:maxLength value="255"/>
        </xsd:restriction>
      </xsd:simpleType>
    </xsd:element>
    <xsd:element name="imagen" ma:index="5" nillable="true" ma:displayName="imagen" ma:description="es una imagen" ma:format="Image" ma:internalName="imagen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itulodeldocumento" ma:index="6" nillable="true" ma:displayName="Titulo del documento" ma:description="será el título del documento" ma:internalName="Titulodeldocumento" ma:readOnly="false">
      <xsd:simpleType>
        <xsd:restriction base="dms:Text">
          <xsd:maxLength value="255"/>
        </xsd:restriction>
      </xsd:simpleType>
    </xsd:element>
    <xsd:element name="Reference" ma:index="8" nillable="true" ma:displayName="Reference" ma:default="SA............" ma:description="SANNI document reference" ma:internalName="Reference" ma:readOnly="false">
      <xsd:simpleType>
        <xsd:restriction base="dms:Text">
          <xsd:maxLength value="2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437292-a496-477c-9f09-94c9da3fc39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9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titus xmlns="http://schemas.titus.com/TitusProperties/">
  <TitusGUID xmlns="">edbb5c09-087a-4487-80d2-3b9a1c357c4a</TitusGUID>
  <TitusMetadata xmlns="">eyJucyI6Imh0dHA6XC9cL3d3dy50aXR1cy5jb21cL25zXC9TQU1JIiwicHJvcHMiOlt7Im4iOiJTQU1JQ2xhc3NpZmljYXRpb24iLCJ2YWxzIjpbeyJ2YWx1ZSI6IlJlc3RyaWN0ZWQifV19LHsibiI6IlN1YkNsYXNzaWZpY2F0aW9uIiwidmFscyI6W3sidmFsdWUiOiJJbnRlcm5hbCJ9XX0seyJuIjoiUTEiLCJ2YWxzIjpbXX0seyJuIjoiUTIiLCJ2YWxzIjpbXX0seyJuIjoiUTMiLCJ2YWxzIjpbXX1dfQ==</TitusMetadata>
</titus>
</file>

<file path=customXml/itemProps1.xml><?xml version="1.0" encoding="utf-8"?>
<ds:datastoreItem xmlns:ds="http://schemas.openxmlformats.org/officeDocument/2006/customXml" ds:itemID="{04859BE2-4FAA-4C3F-9C8F-0D0A00AFAB46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fb437292-a496-477c-9f09-94c9da3fc39c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66db8ef0-36a0-400b-b5be-9690f5587c16"/>
  </ds:schemaRefs>
</ds:datastoreItem>
</file>

<file path=customXml/itemProps2.xml><?xml version="1.0" encoding="utf-8"?>
<ds:datastoreItem xmlns:ds="http://schemas.openxmlformats.org/officeDocument/2006/customXml" ds:itemID="{22A4176A-285A-41E0-B32C-BAE1987B22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db8ef0-36a0-400b-b5be-9690f5587c16"/>
    <ds:schemaRef ds:uri="fb437292-a496-477c-9f09-94c9da3fc3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06C9-F35D-4FC9-84C1-721B0BB7810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BBDF9B25-70B8-4AD5-95BD-8892E4423850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English Presentation Template 2026 (1)</Template>
  <TotalTime>4898</TotalTime>
  <Words>609</Words>
  <Application>Microsoft Office PowerPoint</Application>
  <PresentationFormat>Widescreen</PresentationFormat>
  <Paragraphs>97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Microsoft Sans Serif</vt:lpstr>
      <vt:lpstr>Tahoma</vt:lpstr>
      <vt:lpstr>Office Theme</vt:lpstr>
      <vt:lpstr>PowerPoint Presentation</vt:lpstr>
      <vt:lpstr>Voice assistants depend on the cloud</vt:lpstr>
      <vt:lpstr>A voice assistant that lives on your PC</vt:lpstr>
      <vt:lpstr>From your voice to a spoken answer</vt:lpstr>
      <vt:lpstr>Six building blocks, all local</vt:lpstr>
      <vt:lpstr>Fast, bilingual, and able to act</vt:lpstr>
      <vt:lpstr>A private assistant that answers in under a second.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Asymmetric Warfare</dc:title>
  <dc:creator>Nada Alharbi</dc:creator>
  <cp:lastModifiedBy>Nada Alharbi</cp:lastModifiedBy>
  <cp:revision>360</cp:revision>
  <dcterms:created xsi:type="dcterms:W3CDTF">2026-08-19T10:32:02Z</dcterms:created>
  <dcterms:modified xsi:type="dcterms:W3CDTF">2026-10-22T04:52:54Z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0x010100FBBF9A0AEDFA9342BC9F63BC69FC28BF</vt:lpwstr>
  </property>
  <property fmtid="{D5CDD505-2E9C-101B-9397-08002B2CF9AE}" pid="3" name="TitusGUID">
    <vt:lpwstr>edbb5c09-087a-4487-80d2-3b9a1c357c4a</vt:lpwstr>
  </property>
  <property fmtid="{D5CDD505-2E9C-101B-9397-08002B2CF9AE}" pid="4" name="OriginatingUser">
    <vt:lpwstr>nmalharbi</vt:lpwstr>
  </property>
  <property fmtid="{D5CDD505-2E9C-101B-9397-08002B2CF9AE}" pid="5" name="For DLP Control">
    <vt:lpwstr>Restricted/Internal</vt:lpwstr>
  </property>
  <property fmtid="{D5CDD505-2E9C-101B-9397-08002B2CF9AE}" pid="6" name="Downgraded">
    <vt:lpwstr>False</vt:lpwstr>
  </property>
  <property fmtid="{D5CDD505-2E9C-101B-9397-08002B2CF9AE}" pid="7" name="OriginalClassContext">
    <vt:lpwstr>Restricted</vt:lpwstr>
  </property>
  <property fmtid="{D5CDD505-2E9C-101B-9397-08002B2CF9AE}" pid="8" name="SAMIClassification">
    <vt:lpwstr>Restricted</vt:lpwstr>
  </property>
  <property fmtid="{D5CDD505-2E9C-101B-9397-08002B2CF9AE}" pid="9" name="SubClassification">
    <vt:lpwstr>Internal</vt:lpwstr>
  </property>
</Properties>
</file>